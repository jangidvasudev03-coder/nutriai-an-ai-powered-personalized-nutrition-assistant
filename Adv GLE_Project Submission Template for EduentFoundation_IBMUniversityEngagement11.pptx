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8"/>
  </p:notesMasterIdLst>
  <p:sldIdLst>
    <p:sldId id="283" r:id="rId2"/>
    <p:sldId id="257" r:id="rId3"/>
    <p:sldId id="282" r:id="rId4"/>
    <p:sldId id="285" r:id="rId5"/>
    <p:sldId id="278" r:id="rId6"/>
    <p:sldId id="281" r:id="rId7"/>
    <p:sldId id="279" r:id="rId8"/>
    <p:sldId id="262" r:id="rId9"/>
    <p:sldId id="264" r:id="rId10"/>
    <p:sldId id="277" r:id="rId11"/>
    <p:sldId id="286" r:id="rId12"/>
    <p:sldId id="287" r:id="rId13"/>
    <p:sldId id="280" r:id="rId14"/>
    <p:sldId id="288" r:id="rId15"/>
    <p:sldId id="289" r:id="rId16"/>
    <p:sldId id="276" r:id="rId17"/>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7"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37A25B-DA5D-A37C-3B36-7F0977405ABF}" v="154" dt="2026-06-19T05:59:42.731"/>
    <p1510:client id="{088AD18C-7811-B1E2-9ED5-57A1A5542DF6}" v="456" dt="2026-06-19T06:28:44.546"/>
    <p1510:client id="{A6B9108B-7598-1D50-C4AA-8A38026DAEEF}" v="18" dt="2026-06-19T06:56:18.840"/>
    <p1510:client id="{E27D249D-B118-0810-7731-E1B1C378D9D3}" v="5" dt="2026-06-19T09:10:10.538"/>
  </p1510:revLst>
</p1510:revInfo>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32"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8"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7" Type="http://customschemas.google.com/relationships/presentationmetadata" Target="metadata"/><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13540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11626E4B-E119-2382-6F8F-518641144E90}"/>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01A6FF9F-971F-6CD8-61F5-25638A5985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C8EB5C80-6A4B-AE05-9BE0-03B5AF5C2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827365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a:extLst>
            <a:ext uri="{FF2B5EF4-FFF2-40B4-BE49-F238E27FC236}">
              <a16:creationId xmlns:a16="http://schemas.microsoft.com/office/drawing/2014/main" id="{59B870D7-ED5B-C7CD-FB99-2991954CAA65}"/>
            </a:ext>
          </a:extLst>
        </p:cNvPr>
        <p:cNvGrpSpPr/>
        <p:nvPr/>
      </p:nvGrpSpPr>
      <p:grpSpPr>
        <a:xfrm>
          <a:off x="0" y="0"/>
          <a:ext cx="0" cy="0"/>
          <a:chOff x="0" y="0"/>
          <a:chExt cx="0" cy="0"/>
        </a:xfrm>
      </p:grpSpPr>
      <p:sp>
        <p:nvSpPr>
          <p:cNvPr id="129" name="Google Shape;129;p5:notes">
            <a:extLst>
              <a:ext uri="{FF2B5EF4-FFF2-40B4-BE49-F238E27FC236}">
                <a16:creationId xmlns:a16="http://schemas.microsoft.com/office/drawing/2014/main" id="{C8B270BB-F67C-52E3-249C-6FE0C237CA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0" name="Google Shape;130;p5:notes">
            <a:extLst>
              <a:ext uri="{FF2B5EF4-FFF2-40B4-BE49-F238E27FC236}">
                <a16:creationId xmlns:a16="http://schemas.microsoft.com/office/drawing/2014/main" id="{151B863E-6240-36E9-EB23-2DAA667D25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98578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279463AA-D7FA-5F7E-C4D0-06BDEDCBB93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A84E3171-2C5C-8738-5718-5608CE1B13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E16E406D-2512-5EF2-0167-6C8953469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349666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0" name="Google Shape;19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FB18EFA4-CD13-16C4-504B-6DB7E86CE039}"/>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E8E16183-6BFA-E60A-1235-F3BFB1B1F6E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C4420B06-3455-3F20-5E28-90535F24DA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651753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758711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A795C14E-5D6A-39A3-2018-2C72BB451BBD}"/>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5B8BB2F-0927-3841-AC64-CC67B50358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58797E72-A3BC-0A49-07C4-DE7FDA7523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207868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16939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7BF8-B3EC-77A2-9BFD-D66830272D56}"/>
              </a:ext>
            </a:extLst>
          </p:cNvPr>
          <p:cNvSpPr>
            <a:spLocks noGrp="1"/>
          </p:cNvSpPr>
          <p:nvPr>
            <p:ph type="title"/>
          </p:nvPr>
        </p:nvSpPr>
        <p:spPr/>
        <p:txBody>
          <a:bodyPr>
            <a:normAutofit/>
          </a:bodyPr>
          <a:lstStyle/>
          <a:p>
            <a:pPr algn="ctr"/>
            <a:r>
              <a:rPr lang="en-US" sz="6600" b="1"/>
              <a:t>IBM University Engagement Project Submission</a:t>
            </a:r>
            <a:br>
              <a:rPr lang="en-US" b="1"/>
            </a:br>
            <a:endParaRPr lang="en-IN"/>
          </a:p>
        </p:txBody>
      </p:sp>
      <p:sp>
        <p:nvSpPr>
          <p:cNvPr id="3" name="Text Placeholder 2">
            <a:extLst>
              <a:ext uri="{FF2B5EF4-FFF2-40B4-BE49-F238E27FC236}">
                <a16:creationId xmlns:a16="http://schemas.microsoft.com/office/drawing/2014/main" id="{FFAB85A1-2169-FF43-3E91-E2E8ADA742FF}"/>
              </a:ext>
            </a:extLst>
          </p:cNvPr>
          <p:cNvSpPr>
            <a:spLocks noGrp="1"/>
          </p:cNvSpPr>
          <p:nvPr>
            <p:ph type="body" idx="1"/>
          </p:nvPr>
        </p:nvSpPr>
        <p:spPr>
          <a:xfrm>
            <a:off x="1014730" y="3903663"/>
            <a:ext cx="10515600" cy="1500187"/>
          </a:xfrm>
        </p:spPr>
        <p:txBody>
          <a:bodyPr/>
          <a:lstStyle/>
          <a:p>
            <a:pPr algn="ctr"/>
            <a:r>
              <a:rPr lang="en-US" b="1" i="1"/>
              <a:t>“Exploring the Power of Agentic AI with IBM Granite and </a:t>
            </a:r>
            <a:r>
              <a:rPr lang="en-US" b="1" i="1" err="1"/>
              <a:t>LangFlow</a:t>
            </a:r>
            <a:r>
              <a:rPr lang="en-US" b="1" i="1"/>
              <a:t>”</a:t>
            </a:r>
            <a:endParaRPr lang="en-IN"/>
          </a:p>
        </p:txBody>
      </p:sp>
    </p:spTree>
    <p:extLst>
      <p:ext uri="{BB962C8B-B14F-4D97-AF65-F5344CB8AC3E}">
        <p14:creationId xmlns:p14="http://schemas.microsoft.com/office/powerpoint/2010/main" val="9575646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p14="http://schemas.microsoft.com/office/powerpoint/2010/main" val="1881006400"/>
              </p:ext>
            </p:extLst>
          </p:nvPr>
        </p:nvGraphicFramePr>
        <p:xfrm>
          <a:off x="1299257" y="2600315"/>
          <a:ext cx="9394989" cy="2167128"/>
        </p:xfrm>
        <a:graphic>
          <a:graphicData uri="http://schemas.openxmlformats.org/drawingml/2006/table">
            <a:tbl>
              <a:tblPr>
                <a:noFill/>
                <a:tableStyleId>{0AAD8F4D-43EB-41E5-8A38-28AB6DFB1B60}</a:tableStyleId>
              </a:tblPr>
              <a:tblGrid>
                <a:gridCol w="2064867">
                  <a:extLst>
                    <a:ext uri="{9D8B030D-6E8A-4147-A177-3AD203B41FA5}">
                      <a16:colId xmlns:a16="http://schemas.microsoft.com/office/drawing/2014/main" val="20000"/>
                    </a:ext>
                  </a:extLst>
                </a:gridCol>
                <a:gridCol w="2443374">
                  <a:extLst>
                    <a:ext uri="{9D8B030D-6E8A-4147-A177-3AD203B41FA5}">
                      <a16:colId xmlns:a16="http://schemas.microsoft.com/office/drawing/2014/main" val="20002"/>
                    </a:ext>
                  </a:extLst>
                </a:gridCol>
                <a:gridCol w="2443374">
                  <a:extLst>
                    <a:ext uri="{9D8B030D-6E8A-4147-A177-3AD203B41FA5}">
                      <a16:colId xmlns:a16="http://schemas.microsoft.com/office/drawing/2014/main" val="20003"/>
                    </a:ext>
                  </a:extLst>
                </a:gridCol>
                <a:gridCol w="2443374">
                  <a:extLst>
                    <a:ext uri="{9D8B030D-6E8A-4147-A177-3AD203B41FA5}">
                      <a16:colId xmlns:a16="http://schemas.microsoft.com/office/drawing/2014/main" val="20004"/>
                    </a:ext>
                  </a:extLst>
                </a:gridCol>
              </a:tblGrid>
              <a:tr h="973237">
                <a:tc>
                  <a:txBody>
                    <a:bodyPr/>
                    <a:lstStyle/>
                    <a:p>
                      <a:pPr marL="0" marR="0" lvl="0" indent="0" algn="ctr" rtl="0">
                        <a:spcBef>
                          <a:spcPts val="0"/>
                        </a:spcBef>
                        <a:spcAft>
                          <a:spcPts val="0"/>
                        </a:spcAft>
                        <a:buNone/>
                      </a:pPr>
                      <a:r>
                        <a:rPr lang="en-US" sz="1800" u="none" strike="noStrike" cap="none"/>
                        <a:t>Student Name</a:t>
                      </a:r>
                      <a:endParaRPr sz="1800"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a:t>Recent Passport Photo</a:t>
                      </a:r>
                      <a:endParaRPr sz="1800" u="none" strike="noStrike" cap="none"/>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000000"/>
                          </a:solidFill>
                          <a:latin typeface="Arial"/>
                          <a:ea typeface="Calibri"/>
                          <a:cs typeface="Arial"/>
                          <a:sym typeface="Calibri"/>
                        </a:rPr>
                        <a:t>Email ID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Mobile number</a:t>
                      </a:r>
                      <a:endParaRPr sz="1800" b="0" i="0" u="none" strike="noStrike" cap="none">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[WhatsApp]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193891">
                <a:tc>
                  <a:txBody>
                    <a:bodyPr/>
                    <a:lstStyle/>
                    <a:p>
                      <a:pPr marL="0" marR="0" lvl="0" indent="0" algn="l" rtl="0">
                        <a:spcBef>
                          <a:spcPts val="0"/>
                        </a:spcBef>
                        <a:spcAft>
                          <a:spcPts val="0"/>
                        </a:spcAft>
                        <a:buNone/>
                      </a:pPr>
                      <a:r>
                        <a:rPr lang="en-US" dirty="0"/>
                        <a:t>VASUDEV JANGID</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dirty="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US" dirty="0"/>
                        <a:t>jangidvasudev03@gmail.com</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US" dirty="0"/>
                        <a:t>9021828637</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28B9EF-C084-F5D4-CA27-75AF7D995640}"/>
              </a:ext>
            </a:extLst>
          </p:cNvPr>
          <p:cNvSpPr txBox="1"/>
          <p:nvPr/>
        </p:nvSpPr>
        <p:spPr>
          <a:xfrm>
            <a:off x="1206164" y="1460724"/>
            <a:ext cx="10280254" cy="461665"/>
          </a:xfrm>
          <a:prstGeom prst="rect">
            <a:avLst/>
          </a:prstGeom>
          <a:noFill/>
        </p:spPr>
        <p:txBody>
          <a:bodyPr wrap="square" rtlCol="0">
            <a:spAutoFit/>
          </a:bodyPr>
          <a:lstStyle/>
          <a:p>
            <a:r>
              <a:rPr lang="en-US" sz="2400" b="1" dirty="0"/>
              <a:t>Domain of  Project – </a:t>
            </a:r>
            <a:r>
              <a:rPr lang="en-US" sz="2400" b="1" dirty="0">
                <a:highlight>
                  <a:srgbClr val="FFFF00"/>
                </a:highlight>
              </a:rPr>
              <a:t>[</a:t>
            </a:r>
            <a:r>
              <a:rPr lang="en-US" sz="1800" b="1" dirty="0">
                <a:highlight>
                  <a:srgbClr val="FFFF00"/>
                </a:highlight>
              </a:rPr>
              <a:t>Digital Health &amp; Nutrition </a:t>
            </a:r>
            <a:r>
              <a:rPr lang="en-US" sz="2400" b="1" dirty="0">
                <a:highlight>
                  <a:srgbClr val="FFFF00"/>
                </a:highlight>
              </a:rPr>
              <a:t>]</a:t>
            </a:r>
            <a:endParaRPr lang="en-IN" sz="2400" b="1" dirty="0">
              <a:highlight>
                <a:srgbClr val="FFFF00"/>
              </a:highlight>
            </a:endParaRPr>
          </a:p>
        </p:txBody>
      </p:sp>
      <p:sp>
        <p:nvSpPr>
          <p:cNvPr id="7" name="TextBox 6">
            <a:extLst>
              <a:ext uri="{FF2B5EF4-FFF2-40B4-BE49-F238E27FC236}">
                <a16:creationId xmlns:a16="http://schemas.microsoft.com/office/drawing/2014/main" id="{3D723CA3-EC2D-165A-F109-3759C4E9C8A4}"/>
              </a:ext>
            </a:extLst>
          </p:cNvPr>
          <p:cNvSpPr txBox="1"/>
          <p:nvPr/>
        </p:nvSpPr>
        <p:spPr>
          <a:xfrm>
            <a:off x="1206162" y="551965"/>
            <a:ext cx="9581177" cy="461665"/>
          </a:xfrm>
          <a:prstGeom prst="rect">
            <a:avLst/>
          </a:prstGeom>
          <a:noFill/>
        </p:spPr>
        <p:txBody>
          <a:bodyPr wrap="square" rtlCol="0">
            <a:spAutoFit/>
          </a:bodyPr>
          <a:lstStyle/>
          <a:p>
            <a:r>
              <a:rPr lang="en-US" sz="2400" b="1" dirty="0"/>
              <a:t>Project Tile – </a:t>
            </a:r>
            <a:r>
              <a:rPr lang="en-US" sz="2400" b="1" dirty="0">
                <a:highlight>
                  <a:srgbClr val="FFFF00"/>
                </a:highlight>
              </a:rPr>
              <a:t>[</a:t>
            </a:r>
            <a:r>
              <a:rPr lang="en-US" sz="1800" b="1" dirty="0" err="1">
                <a:highlight>
                  <a:srgbClr val="FFFF00"/>
                </a:highlight>
              </a:rPr>
              <a:t>NutriAI</a:t>
            </a:r>
            <a:r>
              <a:rPr lang="en-US" sz="1800" b="1" dirty="0">
                <a:highlight>
                  <a:srgbClr val="FFFF00"/>
                </a:highlight>
              </a:rPr>
              <a:t> – An AI‑Powered Personalized Nutrition Assistant</a:t>
            </a:r>
            <a:r>
              <a:rPr lang="en-US" sz="2400" b="1" dirty="0">
                <a:highlight>
                  <a:srgbClr val="FFFF00"/>
                </a:highlight>
              </a:rPr>
              <a:t>]</a:t>
            </a:r>
            <a:endParaRPr lang="en-IN" sz="2400" b="1" dirty="0">
              <a:highlight>
                <a:srgbClr val="FFFF00"/>
              </a:highlight>
            </a:endParaRPr>
          </a:p>
        </p:txBody>
      </p:sp>
      <p:sp>
        <p:nvSpPr>
          <p:cNvPr id="3" name="TextBox 2">
            <a:extLst>
              <a:ext uri="{FF2B5EF4-FFF2-40B4-BE49-F238E27FC236}">
                <a16:creationId xmlns:a16="http://schemas.microsoft.com/office/drawing/2014/main" id="{B0B023FA-CFEB-ACE9-8425-7E72E307CDC5}"/>
              </a:ext>
            </a:extLst>
          </p:cNvPr>
          <p:cNvSpPr txBox="1"/>
          <p:nvPr/>
        </p:nvSpPr>
        <p:spPr>
          <a:xfrm>
            <a:off x="1211005" y="5210667"/>
            <a:ext cx="6456743" cy="163121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a:solidFill>
                  <a:srgbClr val="FF0000"/>
                </a:solidFill>
              </a:rPr>
              <a:t>Recommended font style and size:</a:t>
            </a:r>
            <a:br>
              <a:rPr lang="en-US" sz="2000">
                <a:solidFill>
                  <a:srgbClr val="FF0000"/>
                </a:solidFill>
              </a:rPr>
            </a:br>
            <a:br>
              <a:rPr lang="en-US" sz="2000"/>
            </a:br>
            <a:r>
              <a:rPr lang="en-US" sz="2000">
                <a:solidFill>
                  <a:srgbClr val="FF0000"/>
                </a:solidFill>
              </a:rPr>
              <a:t>Font Style: Arial</a:t>
            </a:r>
            <a:br>
              <a:rPr lang="en-US" sz="2000">
                <a:solidFill>
                  <a:srgbClr val="FF0000"/>
                </a:solidFill>
              </a:rPr>
            </a:br>
            <a:r>
              <a:rPr lang="en-US" sz="2000">
                <a:solidFill>
                  <a:srgbClr val="FF0000"/>
                </a:solidFill>
              </a:rPr>
              <a:t>Font Size (Heading): 28</a:t>
            </a:r>
          </a:p>
          <a:p>
            <a:r>
              <a:rPr lang="en-US" sz="2000">
                <a:solidFill>
                  <a:srgbClr val="FF0000"/>
                </a:solidFill>
              </a:rPr>
              <a:t>Font Size (Content): 20</a:t>
            </a:r>
          </a:p>
        </p:txBody>
      </p:sp>
      <p:pic>
        <p:nvPicPr>
          <p:cNvPr id="5" name="Picture 4">
            <a:extLst>
              <a:ext uri="{FF2B5EF4-FFF2-40B4-BE49-F238E27FC236}">
                <a16:creationId xmlns:a16="http://schemas.microsoft.com/office/drawing/2014/main" id="{D908B3CF-50A0-CFF1-1866-55968FCC9795}"/>
              </a:ext>
            </a:extLst>
          </p:cNvPr>
          <p:cNvPicPr>
            <a:picLocks noChangeAspect="1"/>
          </p:cNvPicPr>
          <p:nvPr/>
        </p:nvPicPr>
        <p:blipFill>
          <a:blip r:embed="rId3"/>
          <a:stretch>
            <a:fillRect/>
          </a:stretch>
        </p:blipFill>
        <p:spPr>
          <a:xfrm>
            <a:off x="4138920" y="3683879"/>
            <a:ext cx="760264" cy="977483"/>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F6745E-14BA-0766-CE1E-32E29663832D}"/>
              </a:ext>
            </a:extLst>
          </p:cNvPr>
          <p:cNvSpPr txBox="1"/>
          <p:nvPr/>
        </p:nvSpPr>
        <p:spPr>
          <a:xfrm>
            <a:off x="576071" y="1460582"/>
            <a:ext cx="10298405" cy="3108543"/>
          </a:xfrm>
          <a:prstGeom prst="rect">
            <a:avLst/>
          </a:prstGeom>
          <a:noFill/>
        </p:spPr>
        <p:txBody>
          <a:bodyPr wrap="square" rtlCol="0">
            <a:spAutoFit/>
          </a:bodyPr>
          <a:lstStyle/>
          <a:p>
            <a:pPr fontAlgn="auto"/>
            <a:r>
              <a:rPr lang="en-US" b="1" dirty="0"/>
              <a:t>Fragmented information</a:t>
            </a:r>
            <a:r>
              <a:rPr lang="en-US" dirty="0"/>
              <a:t> – Reliable nutrition data (calories, macro‑/micronutrients, disease‑specific recommendations) is scattered across many websites, making it hard for users to find trustworthy facts.</a:t>
            </a:r>
          </a:p>
          <a:p>
            <a:pPr fontAlgn="auto"/>
            <a:endParaRPr lang="en-US" dirty="0"/>
          </a:p>
          <a:p>
            <a:pPr fontAlgn="auto"/>
            <a:r>
              <a:rPr lang="en-US" b="1" dirty="0"/>
              <a:t>Lack of personalization</a:t>
            </a:r>
            <a:r>
              <a:rPr lang="en-US" dirty="0"/>
              <a:t> – Generic diet plans ignore age, medical conditions, allergies, cultural food preferences, and individual fitness goals.</a:t>
            </a:r>
          </a:p>
          <a:p>
            <a:pPr fontAlgn="auto"/>
            <a:endParaRPr lang="en-US" dirty="0"/>
          </a:p>
          <a:p>
            <a:pPr fontAlgn="auto"/>
            <a:r>
              <a:rPr lang="en-US" b="1" dirty="0"/>
              <a:t>Difficulty in tracking</a:t>
            </a:r>
            <a:r>
              <a:rPr lang="en-US" dirty="0"/>
              <a:t> – Manual food journaling is time‑consuming; users cannot quickly see how a meal fits into their daily nutrient targets.</a:t>
            </a:r>
          </a:p>
          <a:p>
            <a:pPr fontAlgn="auto"/>
            <a:endParaRPr lang="en-US" dirty="0"/>
          </a:p>
          <a:p>
            <a:pPr fontAlgn="auto"/>
            <a:r>
              <a:rPr lang="en-US" b="1" dirty="0"/>
              <a:t>Preventive nutrition gap</a:t>
            </a:r>
            <a:r>
              <a:rPr lang="en-US" dirty="0"/>
              <a:t> – People with chronic conditions (diabetes, hypertension, cardiovascular disease) need diet guidance that aligns with medical recommendations, but few tools provide clinically‑vetted, real‑time advice.</a:t>
            </a:r>
          </a:p>
          <a:p>
            <a:pPr fontAlgn="base"/>
            <a:endParaRPr lang="en-US" dirty="0"/>
          </a:p>
          <a:p>
            <a:pPr fontAlgn="base"/>
            <a:endParaRPr lang="en-US" dirty="0"/>
          </a:p>
          <a:p>
            <a:endParaRPr lang="en-IN" dirty="0"/>
          </a:p>
        </p:txBody>
      </p:sp>
      <p:sp>
        <p:nvSpPr>
          <p:cNvPr id="3" name="TextBox 2">
            <a:extLst>
              <a:ext uri="{FF2B5EF4-FFF2-40B4-BE49-F238E27FC236}">
                <a16:creationId xmlns:a16="http://schemas.microsoft.com/office/drawing/2014/main" id="{3847FA31-EA47-D27A-9D69-AF50A3080AEC}"/>
              </a:ext>
            </a:extLst>
          </p:cNvPr>
          <p:cNvSpPr txBox="1"/>
          <p:nvPr/>
        </p:nvSpPr>
        <p:spPr>
          <a:xfrm>
            <a:off x="576072" y="704088"/>
            <a:ext cx="7214616" cy="461665"/>
          </a:xfrm>
          <a:prstGeom prst="rect">
            <a:avLst/>
          </a:prstGeom>
          <a:noFill/>
        </p:spPr>
        <p:txBody>
          <a:bodyPr wrap="square" rtlCol="0">
            <a:spAutoFit/>
          </a:bodyPr>
          <a:lstStyle/>
          <a:p>
            <a:r>
              <a:rPr lang="en-US" sz="2400" b="1" dirty="0"/>
              <a:t>Problem Statement -</a:t>
            </a:r>
            <a:endParaRPr lang="en-IN" sz="2400" b="1" dirty="0"/>
          </a:p>
        </p:txBody>
      </p:sp>
    </p:spTree>
    <p:extLst>
      <p:ext uri="{BB962C8B-B14F-4D97-AF65-F5344CB8AC3E}">
        <p14:creationId xmlns:p14="http://schemas.microsoft.com/office/powerpoint/2010/main" val="29525842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471B467-61AA-7BCA-460D-43041E805F9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7F30CC-07EF-8FCC-DA00-C9212F5DAECE}"/>
              </a:ext>
            </a:extLst>
          </p:cNvPr>
          <p:cNvSpPr txBox="1"/>
          <p:nvPr/>
        </p:nvSpPr>
        <p:spPr>
          <a:xfrm>
            <a:off x="576071" y="310797"/>
            <a:ext cx="7214616" cy="461665"/>
          </a:xfrm>
          <a:prstGeom prst="rect">
            <a:avLst/>
          </a:prstGeom>
          <a:noFill/>
        </p:spPr>
        <p:txBody>
          <a:bodyPr wrap="square" rtlCol="0">
            <a:spAutoFit/>
          </a:bodyPr>
          <a:lstStyle/>
          <a:p>
            <a:r>
              <a:rPr lang="en-US" sz="2400" b="1" dirty="0"/>
              <a:t>Proposed Solution -</a:t>
            </a:r>
            <a:endParaRPr lang="en-IN" sz="2400" b="1" dirty="0"/>
          </a:p>
        </p:txBody>
      </p:sp>
      <p:sp>
        <p:nvSpPr>
          <p:cNvPr id="6" name="TextBox 5">
            <a:extLst>
              <a:ext uri="{FF2B5EF4-FFF2-40B4-BE49-F238E27FC236}">
                <a16:creationId xmlns:a16="http://schemas.microsoft.com/office/drawing/2014/main" id="{61BB7726-037D-702E-9CF1-6D70243E2F1D}"/>
              </a:ext>
            </a:extLst>
          </p:cNvPr>
          <p:cNvSpPr txBox="1"/>
          <p:nvPr/>
        </p:nvSpPr>
        <p:spPr>
          <a:xfrm>
            <a:off x="576071" y="776392"/>
            <a:ext cx="11039857" cy="5770811"/>
          </a:xfrm>
          <a:prstGeom prst="rect">
            <a:avLst/>
          </a:prstGeom>
          <a:noFill/>
        </p:spPr>
        <p:txBody>
          <a:bodyPr wrap="square">
            <a:spAutoFit/>
          </a:bodyPr>
          <a:lstStyle/>
          <a:p>
            <a:pPr algn="l" fontAlgn="auto">
              <a:spcAft>
                <a:spcPts val="1200"/>
              </a:spcAft>
              <a:buNone/>
            </a:pPr>
            <a:r>
              <a:rPr lang="en-US" b="0" i="0" dirty="0">
                <a:solidFill>
                  <a:srgbClr val="161616"/>
                </a:solidFill>
                <a:effectLst/>
                <a:latin typeface="IBM Plex Sans" panose="020B0503050203000203" pitchFamily="34" charset="0"/>
              </a:rPr>
              <a:t>A </a:t>
            </a:r>
            <a:r>
              <a:rPr lang="en-US" b="1" i="0" dirty="0">
                <a:solidFill>
                  <a:srgbClr val="161616"/>
                </a:solidFill>
                <a:effectLst/>
                <a:latin typeface="inherit"/>
              </a:rPr>
              <a:t>modular, multi‑agent AI platform (</a:t>
            </a:r>
            <a:r>
              <a:rPr lang="en-US" b="1" i="0" dirty="0" err="1">
                <a:solidFill>
                  <a:srgbClr val="161616"/>
                </a:solidFill>
                <a:effectLst/>
                <a:latin typeface="inherit"/>
              </a:rPr>
              <a:t>NutriAI</a:t>
            </a:r>
            <a:r>
              <a:rPr lang="en-US" b="1" i="0" dirty="0">
                <a:solidFill>
                  <a:srgbClr val="161616"/>
                </a:solidFill>
                <a:effectLst/>
                <a:latin typeface="inherit"/>
              </a:rPr>
              <a:t>)</a:t>
            </a:r>
            <a:r>
              <a:rPr lang="en-US" b="0" i="0" dirty="0">
                <a:solidFill>
                  <a:srgbClr val="161616"/>
                </a:solidFill>
                <a:effectLst/>
                <a:latin typeface="IBM Plex Sans" panose="020B0503050203000203" pitchFamily="34" charset="0"/>
              </a:rPr>
              <a:t> that:</a:t>
            </a:r>
          </a:p>
          <a:p>
            <a:pPr algn="l" fontAlgn="auto">
              <a:spcAft>
                <a:spcPts val="600"/>
              </a:spcAft>
              <a:buFont typeface="+mj-lt"/>
              <a:buAutoNum type="arabicPeriod"/>
            </a:pPr>
            <a:r>
              <a:rPr lang="en-US" b="1" i="0" dirty="0">
                <a:solidFill>
                  <a:srgbClr val="161616"/>
                </a:solidFill>
                <a:effectLst/>
                <a:latin typeface="inherit"/>
              </a:rPr>
              <a:t>Collects user profile</a:t>
            </a:r>
            <a:r>
              <a:rPr lang="en-US" b="0" i="0" dirty="0">
                <a:solidFill>
                  <a:srgbClr val="161616"/>
                </a:solidFill>
                <a:effectLst/>
                <a:latin typeface="inherit"/>
              </a:rPr>
              <a:t> – age, gender, weight, height, activity level, health conditions, allergies, cultural/culinary preferences, and specific goals (weight loss, muscle gain, disease management).</a:t>
            </a:r>
          </a:p>
          <a:p>
            <a:pPr algn="l" fontAlgn="auto">
              <a:spcAft>
                <a:spcPts val="600"/>
              </a:spcAft>
              <a:buFont typeface="+mj-lt"/>
              <a:buAutoNum type="arabicPeriod"/>
            </a:pPr>
            <a:endParaRPr lang="en-US" b="0" i="0" dirty="0">
              <a:solidFill>
                <a:srgbClr val="161616"/>
              </a:solidFill>
              <a:effectLst/>
              <a:latin typeface="inherit"/>
            </a:endParaRPr>
          </a:p>
          <a:p>
            <a:pPr algn="l" fontAlgn="auto">
              <a:spcAft>
                <a:spcPts val="600"/>
              </a:spcAft>
              <a:buFont typeface="+mj-lt"/>
              <a:buAutoNum type="arabicPeriod"/>
            </a:pPr>
            <a:r>
              <a:rPr lang="en-US" b="1" i="0" dirty="0">
                <a:solidFill>
                  <a:srgbClr val="161616"/>
                </a:solidFill>
                <a:effectLst/>
                <a:latin typeface="inherit"/>
              </a:rPr>
              <a:t>Generates personalized meal plans</a:t>
            </a:r>
            <a:r>
              <a:rPr lang="en-US" b="0" i="0" dirty="0">
                <a:solidFill>
                  <a:srgbClr val="161616"/>
                </a:solidFill>
                <a:effectLst/>
                <a:latin typeface="inherit"/>
              </a:rPr>
              <a:t> – daily/weekly menus with recipes, portion sizes, and grocery lists, respecting the user’s constraints.</a:t>
            </a:r>
          </a:p>
          <a:p>
            <a:pPr algn="l" fontAlgn="auto">
              <a:spcAft>
                <a:spcPts val="600"/>
              </a:spcAft>
              <a:buFont typeface="+mj-lt"/>
              <a:buAutoNum type="arabicPeriod"/>
            </a:pPr>
            <a:endParaRPr lang="en-US" b="0" i="0" dirty="0">
              <a:solidFill>
                <a:srgbClr val="161616"/>
              </a:solidFill>
              <a:effectLst/>
              <a:latin typeface="inherit"/>
            </a:endParaRPr>
          </a:p>
          <a:p>
            <a:pPr algn="l" fontAlgn="auto">
              <a:spcAft>
                <a:spcPts val="600"/>
              </a:spcAft>
              <a:buFont typeface="+mj-lt"/>
              <a:buAutoNum type="arabicPeriod"/>
            </a:pPr>
            <a:r>
              <a:rPr lang="en-US" b="1" i="0" dirty="0">
                <a:solidFill>
                  <a:srgbClr val="161616"/>
                </a:solidFill>
                <a:effectLst/>
                <a:latin typeface="inherit"/>
              </a:rPr>
              <a:t>Retrieves verified nutrition facts</a:t>
            </a:r>
            <a:r>
              <a:rPr lang="en-US" b="0" i="0" dirty="0">
                <a:solidFill>
                  <a:srgbClr val="161616"/>
                </a:solidFill>
                <a:effectLst/>
                <a:latin typeface="inherit"/>
              </a:rPr>
              <a:t> – via a Retrieval‑Augmented Generation (RAG) pipeline that pulls data from USDA </a:t>
            </a:r>
            <a:r>
              <a:rPr lang="en-US" b="0" i="0" dirty="0" err="1">
                <a:solidFill>
                  <a:srgbClr val="161616"/>
                </a:solidFill>
                <a:effectLst/>
                <a:latin typeface="inherit"/>
              </a:rPr>
              <a:t>FoodData</a:t>
            </a:r>
            <a:r>
              <a:rPr lang="en-US" b="0" i="0" dirty="0">
                <a:solidFill>
                  <a:srgbClr val="161616"/>
                </a:solidFill>
                <a:effectLst/>
                <a:latin typeface="inherit"/>
              </a:rPr>
              <a:t> Central, EFSA, peer‑reviewed journals, and accredited clinical guidelines.</a:t>
            </a:r>
          </a:p>
          <a:p>
            <a:pPr algn="l" fontAlgn="auto">
              <a:spcAft>
                <a:spcPts val="600"/>
              </a:spcAft>
              <a:buFont typeface="+mj-lt"/>
              <a:buAutoNum type="arabicPeriod"/>
            </a:pPr>
            <a:endParaRPr lang="en-US" b="0" i="0" dirty="0">
              <a:solidFill>
                <a:srgbClr val="161616"/>
              </a:solidFill>
              <a:effectLst/>
              <a:latin typeface="inherit"/>
            </a:endParaRPr>
          </a:p>
          <a:p>
            <a:pPr algn="l" fontAlgn="auto">
              <a:spcAft>
                <a:spcPts val="600"/>
              </a:spcAft>
              <a:buFont typeface="+mj-lt"/>
              <a:buAutoNum type="arabicPeriod"/>
            </a:pPr>
            <a:r>
              <a:rPr lang="en-US" b="1" i="0" dirty="0">
                <a:solidFill>
                  <a:srgbClr val="161616"/>
                </a:solidFill>
                <a:effectLst/>
                <a:latin typeface="inherit"/>
              </a:rPr>
              <a:t>Enables multimodal food logging</a:t>
            </a:r>
            <a:r>
              <a:rPr lang="en-US" b="0" i="0" dirty="0">
                <a:solidFill>
                  <a:srgbClr val="161616"/>
                </a:solidFill>
                <a:effectLst/>
                <a:latin typeface="inherit"/>
              </a:rPr>
              <a:t> – users can type, upload a photo, or speak a description; the system uses OCR &amp; image‑recognition models to identify foods, estimate portions, and compute calories/macros/micronutrients.</a:t>
            </a:r>
          </a:p>
          <a:p>
            <a:pPr algn="l" fontAlgn="auto">
              <a:spcAft>
                <a:spcPts val="600"/>
              </a:spcAft>
              <a:buFont typeface="+mj-lt"/>
              <a:buAutoNum type="arabicPeriod"/>
            </a:pPr>
            <a:endParaRPr lang="en-US" b="0" i="0" dirty="0">
              <a:solidFill>
                <a:srgbClr val="161616"/>
              </a:solidFill>
              <a:effectLst/>
              <a:latin typeface="inherit"/>
            </a:endParaRPr>
          </a:p>
          <a:p>
            <a:pPr algn="l" fontAlgn="auto">
              <a:spcAft>
                <a:spcPts val="600"/>
              </a:spcAft>
              <a:buFont typeface="+mj-lt"/>
              <a:buAutoNum type="arabicPeriod"/>
            </a:pPr>
            <a:r>
              <a:rPr lang="en-US" b="1" i="0" dirty="0">
                <a:solidFill>
                  <a:srgbClr val="161616"/>
                </a:solidFill>
                <a:effectLst/>
                <a:latin typeface="inherit"/>
              </a:rPr>
              <a:t>Provides instant feedback</a:t>
            </a:r>
            <a:r>
              <a:rPr lang="en-US" b="0" i="0" dirty="0">
                <a:solidFill>
                  <a:srgbClr val="161616"/>
                </a:solidFill>
                <a:effectLst/>
                <a:latin typeface="inherit"/>
              </a:rPr>
              <a:t> – compares logged intake against personalized targets, flags excesses/deficiencies, and suggests corrective actions (e.g., “Add a serving of leafy greens to reach your vitamin K goal”).</a:t>
            </a:r>
          </a:p>
          <a:p>
            <a:pPr algn="l" fontAlgn="auto">
              <a:spcAft>
                <a:spcPts val="600"/>
              </a:spcAft>
              <a:buFont typeface="+mj-lt"/>
              <a:buAutoNum type="arabicPeriod"/>
            </a:pPr>
            <a:endParaRPr lang="en-US" b="0" i="0" dirty="0">
              <a:solidFill>
                <a:srgbClr val="161616"/>
              </a:solidFill>
              <a:effectLst/>
              <a:latin typeface="inherit"/>
            </a:endParaRPr>
          </a:p>
          <a:p>
            <a:pPr algn="l" fontAlgn="auto">
              <a:spcAft>
                <a:spcPts val="600"/>
              </a:spcAft>
              <a:buFont typeface="+mj-lt"/>
              <a:buAutoNum type="arabicPeriod"/>
            </a:pPr>
            <a:r>
              <a:rPr lang="en-US" b="1" i="0" dirty="0">
                <a:solidFill>
                  <a:srgbClr val="161616"/>
                </a:solidFill>
                <a:effectLst/>
                <a:latin typeface="inherit"/>
              </a:rPr>
              <a:t>Delivers preventive health advice</a:t>
            </a:r>
            <a:r>
              <a:rPr lang="en-US" b="0" i="0" dirty="0">
                <a:solidFill>
                  <a:srgbClr val="161616"/>
                </a:solidFill>
                <a:effectLst/>
                <a:latin typeface="inherit"/>
              </a:rPr>
              <a:t> – tailored diet suggestions for diabetes, hypertension, dyslipidemia, gut health, etc., grounded in clinical guidelines (ADA, AHA, DASH, Mediterranean diet).</a:t>
            </a:r>
          </a:p>
          <a:p>
            <a:pPr algn="l" fontAlgn="auto">
              <a:spcAft>
                <a:spcPts val="600"/>
              </a:spcAft>
              <a:buFont typeface="+mj-lt"/>
              <a:buAutoNum type="arabicPeriod"/>
            </a:pPr>
            <a:endParaRPr lang="en-US" b="0" i="0" dirty="0">
              <a:solidFill>
                <a:srgbClr val="161616"/>
              </a:solidFill>
              <a:effectLst/>
              <a:latin typeface="inherit"/>
            </a:endParaRPr>
          </a:p>
          <a:p>
            <a:pPr algn="l" fontAlgn="auto">
              <a:spcAft>
                <a:spcPts val="600"/>
              </a:spcAft>
              <a:buFont typeface="+mj-lt"/>
              <a:buAutoNum type="arabicPeriod"/>
            </a:pPr>
            <a:r>
              <a:rPr lang="en-US" b="1" i="0" dirty="0">
                <a:solidFill>
                  <a:srgbClr val="161616"/>
                </a:solidFill>
                <a:effectLst/>
                <a:latin typeface="inherit"/>
              </a:rPr>
              <a:t>Visual Dashboard</a:t>
            </a:r>
            <a:r>
              <a:rPr lang="en-US" b="0" i="0" dirty="0">
                <a:solidFill>
                  <a:srgbClr val="161616"/>
                </a:solidFill>
                <a:effectLst/>
                <a:latin typeface="inherit"/>
              </a:rPr>
              <a:t> – interactive charts (daily/weekly nutrient distribution, trend lines for weight/BMI, compliance score) and alerts for upcoming deficiencies.</a:t>
            </a:r>
          </a:p>
          <a:p>
            <a:pPr algn="l" fontAlgn="auto">
              <a:spcAft>
                <a:spcPts val="1200"/>
              </a:spcAft>
              <a:buNone/>
            </a:pPr>
            <a:r>
              <a:rPr lang="en-US" b="0" i="0" dirty="0">
                <a:solidFill>
                  <a:srgbClr val="161616"/>
                </a:solidFill>
                <a:effectLst/>
                <a:latin typeface="IBM Plex Sans" panose="020B0503050203000203" pitchFamily="34" charset="0"/>
              </a:rPr>
              <a:t>All agents work together through </a:t>
            </a:r>
            <a:r>
              <a:rPr lang="en-US" b="1" i="0" dirty="0">
                <a:solidFill>
                  <a:srgbClr val="161616"/>
                </a:solidFill>
                <a:effectLst/>
                <a:latin typeface="inherit"/>
              </a:rPr>
              <a:t>IBM Orchestrate</a:t>
            </a:r>
            <a:r>
              <a:rPr lang="en-US" b="0" i="0" dirty="0">
                <a:solidFill>
                  <a:srgbClr val="161616"/>
                </a:solidFill>
                <a:effectLst/>
                <a:latin typeface="IBM Plex Sans" panose="020B0503050203000203" pitchFamily="34" charset="0"/>
              </a:rPr>
              <a:t> to route requests, maintain context, and ensure a seamless user experience.</a:t>
            </a:r>
          </a:p>
        </p:txBody>
      </p:sp>
    </p:spTree>
    <p:extLst>
      <p:ext uri="{BB962C8B-B14F-4D97-AF65-F5344CB8AC3E}">
        <p14:creationId xmlns:p14="http://schemas.microsoft.com/office/powerpoint/2010/main" val="22902949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7C2A09DE-0AE2-AA94-B2C1-84FDBDB9DC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51FBD4A-3273-E454-091D-D5B0678FC299}"/>
              </a:ext>
            </a:extLst>
          </p:cNvPr>
          <p:cNvSpPr txBox="1"/>
          <p:nvPr/>
        </p:nvSpPr>
        <p:spPr>
          <a:xfrm>
            <a:off x="777240" y="484632"/>
            <a:ext cx="7123176" cy="461665"/>
          </a:xfrm>
          <a:prstGeom prst="rect">
            <a:avLst/>
          </a:prstGeom>
          <a:noFill/>
        </p:spPr>
        <p:txBody>
          <a:bodyPr wrap="square" lIns="91440" tIns="45720" rIns="91440" bIns="45720" rtlCol="0" anchor="t">
            <a:spAutoFit/>
          </a:bodyPr>
          <a:lstStyle/>
          <a:p>
            <a:r>
              <a:rPr lang="en-US" sz="2400" b="1"/>
              <a:t>Technology Used</a:t>
            </a:r>
            <a:endParaRPr lang="en-IN" sz="2400" b="1" dirty="0"/>
          </a:p>
        </p:txBody>
      </p:sp>
      <p:graphicFrame>
        <p:nvGraphicFramePr>
          <p:cNvPr id="4" name="Table 3">
            <a:extLst>
              <a:ext uri="{FF2B5EF4-FFF2-40B4-BE49-F238E27FC236}">
                <a16:creationId xmlns:a16="http://schemas.microsoft.com/office/drawing/2014/main" id="{4EEA1DD6-A76B-A7CE-0FD6-CAC5D6792FE1}"/>
              </a:ext>
            </a:extLst>
          </p:cNvPr>
          <p:cNvGraphicFramePr>
            <a:graphicFrameLocks noGrp="1"/>
          </p:cNvGraphicFramePr>
          <p:nvPr>
            <p:extLst>
              <p:ext uri="{D42A27DB-BD31-4B8C-83A1-F6EECF244321}">
                <p14:modId xmlns:p14="http://schemas.microsoft.com/office/powerpoint/2010/main" val="4155716944"/>
              </p:ext>
            </p:extLst>
          </p:nvPr>
        </p:nvGraphicFramePr>
        <p:xfrm>
          <a:off x="777240" y="946297"/>
          <a:ext cx="7459313" cy="5650700"/>
        </p:xfrm>
        <a:graphic>
          <a:graphicData uri="http://schemas.openxmlformats.org/drawingml/2006/table">
            <a:tbl>
              <a:tblPr/>
              <a:tblGrid>
                <a:gridCol w="2038789">
                  <a:extLst>
                    <a:ext uri="{9D8B030D-6E8A-4147-A177-3AD203B41FA5}">
                      <a16:colId xmlns:a16="http://schemas.microsoft.com/office/drawing/2014/main" val="64756576"/>
                    </a:ext>
                  </a:extLst>
                </a:gridCol>
                <a:gridCol w="2710262">
                  <a:extLst>
                    <a:ext uri="{9D8B030D-6E8A-4147-A177-3AD203B41FA5}">
                      <a16:colId xmlns:a16="http://schemas.microsoft.com/office/drawing/2014/main" val="2105470633"/>
                    </a:ext>
                  </a:extLst>
                </a:gridCol>
                <a:gridCol w="2710262">
                  <a:extLst>
                    <a:ext uri="{9D8B030D-6E8A-4147-A177-3AD203B41FA5}">
                      <a16:colId xmlns:a16="http://schemas.microsoft.com/office/drawing/2014/main" val="603106977"/>
                    </a:ext>
                  </a:extLst>
                </a:gridCol>
              </a:tblGrid>
              <a:tr h="194245">
                <a:tc>
                  <a:txBody>
                    <a:bodyPr/>
                    <a:lstStyle/>
                    <a:p>
                      <a:pPr algn="l" fontAlgn="ctr">
                        <a:buNone/>
                      </a:pPr>
                      <a:r>
                        <a:rPr lang="en-US" sz="1100" b="1" dirty="0">
                          <a:solidFill>
                            <a:srgbClr val="161616"/>
                          </a:solidFill>
                          <a:effectLst/>
                          <a:latin typeface="inherit"/>
                        </a:rPr>
                        <a:t>Layer</a:t>
                      </a:r>
                    </a:p>
                  </a:txBody>
                  <a:tcPr marL="39113" marR="39113" marT="19557" marB="19557" anchor="ctr">
                    <a:lnL>
                      <a:noFill/>
                    </a:lnL>
                    <a:lnR>
                      <a:noFill/>
                    </a:lnR>
                    <a:lnT>
                      <a:noFill/>
                    </a:lnT>
                    <a:lnB w="6096" cap="flat" cmpd="sng" algn="ctr">
                      <a:solidFill>
                        <a:srgbClr val="30B826"/>
                      </a:solidFill>
                      <a:prstDash val="solid"/>
                      <a:round/>
                      <a:headEnd type="none" w="med" len="med"/>
                      <a:tailEnd type="none" w="med" len="med"/>
                    </a:lnB>
                    <a:solidFill>
                      <a:srgbClr val="E0E0E0"/>
                    </a:solidFill>
                  </a:tcPr>
                </a:tc>
                <a:tc>
                  <a:txBody>
                    <a:bodyPr/>
                    <a:lstStyle/>
                    <a:p>
                      <a:pPr algn="l" fontAlgn="ctr">
                        <a:buNone/>
                      </a:pPr>
                      <a:r>
                        <a:rPr lang="en-US" sz="1100" b="1" dirty="0">
                          <a:solidFill>
                            <a:srgbClr val="161616"/>
                          </a:solidFill>
                          <a:effectLst/>
                          <a:latin typeface="inherit"/>
                        </a:rPr>
                        <a:t>Technology</a:t>
                      </a:r>
                    </a:p>
                  </a:txBody>
                  <a:tcPr marL="39113" marR="39113" marT="19557" marB="19557" anchor="ctr">
                    <a:lnL>
                      <a:noFill/>
                    </a:lnL>
                    <a:lnR>
                      <a:noFill/>
                    </a:lnR>
                    <a:lnT>
                      <a:noFill/>
                    </a:lnT>
                    <a:lnB w="6096" cap="flat" cmpd="sng" algn="ctr">
                      <a:solidFill>
                        <a:srgbClr val="90B526"/>
                      </a:solidFill>
                      <a:prstDash val="solid"/>
                      <a:round/>
                      <a:headEnd type="none" w="med" len="med"/>
                      <a:tailEnd type="none" w="med" len="med"/>
                    </a:lnB>
                    <a:solidFill>
                      <a:srgbClr val="E0E0E0"/>
                    </a:solidFill>
                  </a:tcPr>
                </a:tc>
                <a:tc>
                  <a:txBody>
                    <a:bodyPr/>
                    <a:lstStyle/>
                    <a:p>
                      <a:pPr algn="l" fontAlgn="ctr">
                        <a:buNone/>
                      </a:pPr>
                      <a:r>
                        <a:rPr lang="en-US" sz="1100" b="1" dirty="0">
                          <a:solidFill>
                            <a:srgbClr val="161616"/>
                          </a:solidFill>
                          <a:effectLst/>
                          <a:latin typeface="inherit"/>
                        </a:rPr>
                        <a:t>Role</a:t>
                      </a:r>
                    </a:p>
                  </a:txBody>
                  <a:tcPr marL="39113" marR="39113" marT="19557" marB="19557" anchor="ctr">
                    <a:lnL>
                      <a:noFill/>
                    </a:lnL>
                    <a:lnR>
                      <a:noFill/>
                    </a:lnR>
                    <a:lnT>
                      <a:noFill/>
                    </a:lnT>
                    <a:lnB w="6096" cap="flat" cmpd="sng" algn="ctr">
                      <a:solidFill>
                        <a:srgbClr val="30B826"/>
                      </a:solidFill>
                      <a:prstDash val="solid"/>
                      <a:round/>
                      <a:headEnd type="none" w="med" len="med"/>
                      <a:tailEnd type="none" w="med" len="med"/>
                    </a:lnB>
                    <a:solidFill>
                      <a:srgbClr val="E0E0E0"/>
                    </a:solidFill>
                  </a:tcPr>
                </a:tc>
                <a:extLst>
                  <a:ext uri="{0D108BD9-81ED-4DB2-BD59-A6C34878D82A}">
                    <a16:rowId xmlns:a16="http://schemas.microsoft.com/office/drawing/2014/main" val="751185532"/>
                  </a:ext>
                </a:extLst>
              </a:tr>
              <a:tr h="664814">
                <a:tc>
                  <a:txBody>
                    <a:bodyPr/>
                    <a:lstStyle/>
                    <a:p>
                      <a:pPr algn="l" fontAlgn="ctr">
                        <a:buNone/>
                      </a:pPr>
                      <a:r>
                        <a:rPr lang="en-US" sz="1100" b="1" dirty="0">
                          <a:solidFill>
                            <a:srgbClr val="161616"/>
                          </a:solidFill>
                          <a:effectLst/>
                          <a:latin typeface="inherit"/>
                        </a:rPr>
                        <a:t>Workflow &amp; Orchestration</a:t>
                      </a:r>
                      <a:endParaRPr lang="en-US" sz="1100" dirty="0">
                        <a:solidFill>
                          <a:srgbClr val="161616"/>
                        </a:solidFill>
                        <a:effectLst/>
                        <a:latin typeface="inherit"/>
                      </a:endParaRPr>
                    </a:p>
                  </a:txBody>
                  <a:tcPr marL="39113" marR="39113" marT="19557" marB="19557" anchor="ctr">
                    <a:lnL>
                      <a:noFill/>
                    </a:lnL>
                    <a:lnR>
                      <a:noFill/>
                    </a:lnR>
                    <a:lnT w="6096" cap="flat" cmpd="sng" algn="ctr">
                      <a:solidFill>
                        <a:srgbClr val="30B826"/>
                      </a:solidFill>
                      <a:prstDash val="solid"/>
                      <a:round/>
                      <a:headEnd type="none" w="med" len="med"/>
                      <a:tailEnd type="none" w="med" len="med"/>
                    </a:lnT>
                    <a:lnB w="6096" cap="flat" cmpd="sng" algn="ctr">
                      <a:solidFill>
                        <a:srgbClr val="30B826"/>
                      </a:solidFill>
                      <a:prstDash val="solid"/>
                      <a:round/>
                      <a:headEnd type="none" w="med" len="med"/>
                      <a:tailEnd type="none" w="med" len="med"/>
                    </a:lnB>
                    <a:solidFill>
                      <a:srgbClr val="FFFFFF"/>
                    </a:solidFill>
                  </a:tcPr>
                </a:tc>
                <a:tc>
                  <a:txBody>
                    <a:bodyPr/>
                    <a:lstStyle/>
                    <a:p>
                      <a:pPr algn="l" fontAlgn="ctr">
                        <a:buNone/>
                      </a:pPr>
                      <a:r>
                        <a:rPr lang="en-US" sz="1100" b="1" dirty="0">
                          <a:solidFill>
                            <a:srgbClr val="161616"/>
                          </a:solidFill>
                          <a:effectLst/>
                          <a:latin typeface="inherit"/>
                        </a:rPr>
                        <a:t>IBM </a:t>
                      </a:r>
                      <a:r>
                        <a:rPr lang="en-US" sz="1100" b="1" dirty="0" err="1">
                          <a:solidFill>
                            <a:srgbClr val="161616"/>
                          </a:solidFill>
                          <a:effectLst/>
                          <a:latin typeface="inherit"/>
                        </a:rPr>
                        <a:t>LangFlow</a:t>
                      </a:r>
                      <a:r>
                        <a:rPr lang="en-US" sz="1100" dirty="0">
                          <a:solidFill>
                            <a:srgbClr val="161616"/>
                          </a:solidFill>
                          <a:effectLst/>
                          <a:latin typeface="inherit"/>
                        </a:rPr>
                        <a:t> (graphical flow builder) + </a:t>
                      </a:r>
                      <a:r>
                        <a:rPr lang="en-US" sz="1100" b="1" dirty="0">
                          <a:solidFill>
                            <a:srgbClr val="161616"/>
                          </a:solidFill>
                          <a:effectLst/>
                          <a:latin typeface="inherit"/>
                        </a:rPr>
                        <a:t>IBM Orchestrate</a:t>
                      </a:r>
                      <a:endParaRPr lang="en-US" sz="1100" dirty="0">
                        <a:solidFill>
                          <a:srgbClr val="161616"/>
                        </a:solidFill>
                        <a:effectLst/>
                        <a:latin typeface="inherit"/>
                      </a:endParaRPr>
                    </a:p>
                  </a:txBody>
                  <a:tcPr marL="39113" marR="39113" marT="19557" marB="19557" anchor="ctr">
                    <a:lnL>
                      <a:noFill/>
                    </a:lnL>
                    <a:lnR>
                      <a:noFill/>
                    </a:lnR>
                    <a:lnT w="6096" cap="flat" cmpd="sng" algn="ctr">
                      <a:solidFill>
                        <a:srgbClr val="90B526"/>
                      </a:solidFill>
                      <a:prstDash val="solid"/>
                      <a:round/>
                      <a:headEnd type="none" w="med" len="med"/>
                      <a:tailEnd type="none" w="med" len="med"/>
                    </a:lnT>
                    <a:lnB w="6096" cap="flat" cmpd="sng" algn="ctr">
                      <a:solidFill>
                        <a:srgbClr val="F0B826"/>
                      </a:solidFill>
                      <a:prstDash val="solid"/>
                      <a:round/>
                      <a:headEnd type="none" w="med" len="med"/>
                      <a:tailEnd type="none" w="med" len="med"/>
                    </a:lnB>
                    <a:solidFill>
                      <a:srgbClr val="FFFFFF"/>
                    </a:solidFill>
                  </a:tcPr>
                </a:tc>
                <a:tc>
                  <a:txBody>
                    <a:bodyPr/>
                    <a:lstStyle/>
                    <a:p>
                      <a:pPr algn="l" fontAlgn="ctr">
                        <a:buNone/>
                      </a:pPr>
                      <a:r>
                        <a:rPr lang="en-US" sz="1100" dirty="0">
                          <a:solidFill>
                            <a:srgbClr val="161616"/>
                          </a:solidFill>
                          <a:effectLst/>
                          <a:latin typeface="inherit"/>
                        </a:rPr>
                        <a:t>Design and manage the multi‑agent pipelines, state handling, and external API calls.</a:t>
                      </a:r>
                    </a:p>
                  </a:txBody>
                  <a:tcPr marL="39113" marR="39113" marT="19557" marB="19557" anchor="ctr">
                    <a:lnL>
                      <a:noFill/>
                    </a:lnL>
                    <a:lnR>
                      <a:noFill/>
                    </a:lnR>
                    <a:lnT w="6096" cap="flat" cmpd="sng" algn="ctr">
                      <a:solidFill>
                        <a:srgbClr val="30B826"/>
                      </a:solidFill>
                      <a:prstDash val="solid"/>
                      <a:round/>
                      <a:headEnd type="none" w="med" len="med"/>
                      <a:tailEnd type="none" w="med" len="med"/>
                    </a:lnT>
                    <a:lnB w="6096" cap="flat" cmpd="sng" algn="ctr">
                      <a:solidFill>
                        <a:srgbClr val="30AF26"/>
                      </a:solidFill>
                      <a:prstDash val="solid"/>
                      <a:round/>
                      <a:headEnd type="none" w="med" len="med"/>
                      <a:tailEnd type="none" w="med" len="med"/>
                    </a:lnB>
                    <a:solidFill>
                      <a:srgbClr val="FFFFFF"/>
                    </a:solidFill>
                  </a:tcPr>
                </a:tc>
                <a:extLst>
                  <a:ext uri="{0D108BD9-81ED-4DB2-BD59-A6C34878D82A}">
                    <a16:rowId xmlns:a16="http://schemas.microsoft.com/office/drawing/2014/main" val="3271861053"/>
                  </a:ext>
                </a:extLst>
              </a:tr>
              <a:tr h="664814">
                <a:tc>
                  <a:txBody>
                    <a:bodyPr/>
                    <a:lstStyle/>
                    <a:p>
                      <a:pPr algn="l" fontAlgn="ctr">
                        <a:buNone/>
                      </a:pPr>
                      <a:r>
                        <a:rPr lang="en-US" sz="1100" b="1" dirty="0">
                          <a:solidFill>
                            <a:srgbClr val="161616"/>
                          </a:solidFill>
                          <a:effectLst/>
                          <a:latin typeface="inherit"/>
                        </a:rPr>
                        <a:t>LLM Core</a:t>
                      </a:r>
                      <a:endParaRPr lang="en-US" sz="1100" dirty="0">
                        <a:solidFill>
                          <a:srgbClr val="161616"/>
                        </a:solidFill>
                        <a:effectLst/>
                        <a:latin typeface="inherit"/>
                      </a:endParaRPr>
                    </a:p>
                  </a:txBody>
                  <a:tcPr marL="39113" marR="39113" marT="19557" marB="19557" anchor="ctr">
                    <a:lnL>
                      <a:noFill/>
                    </a:lnL>
                    <a:lnR>
                      <a:noFill/>
                    </a:lnR>
                    <a:lnT w="6096" cap="flat" cmpd="sng" algn="ctr">
                      <a:solidFill>
                        <a:srgbClr val="30B826"/>
                      </a:solidFill>
                      <a:prstDash val="solid"/>
                      <a:round/>
                      <a:headEnd type="none" w="med" len="med"/>
                      <a:tailEnd type="none" w="med" len="med"/>
                    </a:lnT>
                    <a:lnB w="6096" cap="flat" cmpd="sng" algn="ctr">
                      <a:solidFill>
                        <a:srgbClr val="30B826"/>
                      </a:solidFill>
                      <a:prstDash val="solid"/>
                      <a:round/>
                      <a:headEnd type="none" w="med" len="med"/>
                      <a:tailEnd type="none" w="med" len="med"/>
                    </a:lnB>
                    <a:solidFill>
                      <a:srgbClr val="FFFFFF"/>
                    </a:solidFill>
                  </a:tcPr>
                </a:tc>
                <a:tc>
                  <a:txBody>
                    <a:bodyPr/>
                    <a:lstStyle/>
                    <a:p>
                      <a:pPr algn="l" fontAlgn="ctr">
                        <a:buNone/>
                      </a:pPr>
                      <a:r>
                        <a:rPr lang="en-US" sz="1100" b="1" dirty="0">
                          <a:solidFill>
                            <a:srgbClr val="161616"/>
                          </a:solidFill>
                          <a:effectLst/>
                          <a:latin typeface="inherit"/>
                        </a:rPr>
                        <a:t>IBM Granite / IBM Watsonx.ai</a:t>
                      </a:r>
                      <a:r>
                        <a:rPr lang="en-US" sz="1100" dirty="0">
                          <a:solidFill>
                            <a:srgbClr val="161616"/>
                          </a:solidFill>
                          <a:effectLst/>
                          <a:latin typeface="inherit"/>
                        </a:rPr>
                        <a:t> (instruction‑tuned LLM)</a:t>
                      </a:r>
                    </a:p>
                  </a:txBody>
                  <a:tcPr marL="39113" marR="39113" marT="19557" marB="19557" anchor="ctr">
                    <a:lnL>
                      <a:noFill/>
                    </a:lnL>
                    <a:lnR>
                      <a:noFill/>
                    </a:lnR>
                    <a:lnT w="6096" cap="flat" cmpd="sng" algn="ctr">
                      <a:solidFill>
                        <a:srgbClr val="F0B826"/>
                      </a:solidFill>
                      <a:prstDash val="solid"/>
                      <a:round/>
                      <a:headEnd type="none" w="med" len="med"/>
                      <a:tailEnd type="none" w="med" len="med"/>
                    </a:lnT>
                    <a:lnB w="6096" cap="flat" cmpd="sng" algn="ctr">
                      <a:solidFill>
                        <a:srgbClr val="70B726"/>
                      </a:solidFill>
                      <a:prstDash val="solid"/>
                      <a:round/>
                      <a:headEnd type="none" w="med" len="med"/>
                      <a:tailEnd type="none" w="med" len="med"/>
                    </a:lnB>
                    <a:solidFill>
                      <a:srgbClr val="FFFFFF"/>
                    </a:solidFill>
                  </a:tcPr>
                </a:tc>
                <a:tc>
                  <a:txBody>
                    <a:bodyPr/>
                    <a:lstStyle/>
                    <a:p>
                      <a:pPr algn="l" fontAlgn="ctr">
                        <a:buNone/>
                      </a:pPr>
                      <a:r>
                        <a:rPr lang="en-US" sz="1100" dirty="0">
                          <a:solidFill>
                            <a:srgbClr val="161616"/>
                          </a:solidFill>
                          <a:effectLst/>
                          <a:latin typeface="inherit"/>
                        </a:rPr>
                        <a:t>Natural‑language understanding, plan generation, conversational responses.</a:t>
                      </a:r>
                    </a:p>
                  </a:txBody>
                  <a:tcPr marL="39113" marR="39113" marT="19557" marB="19557" anchor="ctr">
                    <a:lnL>
                      <a:noFill/>
                    </a:lnL>
                    <a:lnR>
                      <a:noFill/>
                    </a:lnR>
                    <a:lnT w="6096" cap="flat" cmpd="sng" algn="ctr">
                      <a:solidFill>
                        <a:srgbClr val="30AF26"/>
                      </a:solidFill>
                      <a:prstDash val="solid"/>
                      <a:round/>
                      <a:headEnd type="none" w="med" len="med"/>
                      <a:tailEnd type="none" w="med" len="med"/>
                    </a:lnT>
                    <a:lnB w="6096" cap="flat" cmpd="sng" algn="ctr">
                      <a:solidFill>
                        <a:srgbClr val="90B526"/>
                      </a:solidFill>
                      <a:prstDash val="solid"/>
                      <a:round/>
                      <a:headEnd type="none" w="med" len="med"/>
                      <a:tailEnd type="none" w="med" len="med"/>
                    </a:lnB>
                    <a:solidFill>
                      <a:srgbClr val="FFFFFF"/>
                    </a:solidFill>
                  </a:tcPr>
                </a:tc>
                <a:extLst>
                  <a:ext uri="{0D108BD9-81ED-4DB2-BD59-A6C34878D82A}">
                    <a16:rowId xmlns:a16="http://schemas.microsoft.com/office/drawing/2014/main" val="2319960710"/>
                  </a:ext>
                </a:extLst>
              </a:tr>
              <a:tr h="1103841">
                <a:tc>
                  <a:txBody>
                    <a:bodyPr/>
                    <a:lstStyle/>
                    <a:p>
                      <a:pPr algn="l" fontAlgn="ctr">
                        <a:buNone/>
                      </a:pPr>
                      <a:r>
                        <a:rPr lang="en-US" sz="1100" b="1" dirty="0">
                          <a:solidFill>
                            <a:srgbClr val="161616"/>
                          </a:solidFill>
                          <a:effectLst/>
                          <a:latin typeface="inherit"/>
                        </a:rPr>
                        <a:t>Retrieval‑Augmented Generation</a:t>
                      </a:r>
                      <a:endParaRPr lang="en-US" sz="1100" dirty="0">
                        <a:solidFill>
                          <a:srgbClr val="161616"/>
                        </a:solidFill>
                        <a:effectLst/>
                        <a:latin typeface="inherit"/>
                      </a:endParaRPr>
                    </a:p>
                  </a:txBody>
                  <a:tcPr marL="39113" marR="39113" marT="19557" marB="19557" anchor="ctr">
                    <a:lnL>
                      <a:noFill/>
                    </a:lnL>
                    <a:lnR>
                      <a:noFill/>
                    </a:lnR>
                    <a:lnT w="6096" cap="flat" cmpd="sng" algn="ctr">
                      <a:solidFill>
                        <a:srgbClr val="30B826"/>
                      </a:solidFill>
                      <a:prstDash val="solid"/>
                      <a:round/>
                      <a:headEnd type="none" w="med" len="med"/>
                      <a:tailEnd type="none" w="med" len="med"/>
                    </a:lnT>
                    <a:lnB w="6096" cap="flat" cmpd="sng" algn="ctr">
                      <a:solidFill>
                        <a:srgbClr val="B0AD26"/>
                      </a:solidFill>
                      <a:prstDash val="solid"/>
                      <a:round/>
                      <a:headEnd type="none" w="med" len="med"/>
                      <a:tailEnd type="none" w="med" len="med"/>
                    </a:lnB>
                    <a:solidFill>
                      <a:srgbClr val="FFFFFF"/>
                    </a:solidFill>
                  </a:tcPr>
                </a:tc>
                <a:tc>
                  <a:txBody>
                    <a:bodyPr/>
                    <a:lstStyle/>
                    <a:p>
                      <a:pPr algn="l" fontAlgn="ctr">
                        <a:buNone/>
                      </a:pPr>
                      <a:r>
                        <a:rPr lang="en-US" sz="1100" b="1" dirty="0">
                          <a:solidFill>
                            <a:srgbClr val="161616"/>
                          </a:solidFill>
                          <a:effectLst/>
                          <a:latin typeface="inherit"/>
                        </a:rPr>
                        <a:t>IBM Knowledge Studio</a:t>
                      </a:r>
                      <a:r>
                        <a:rPr lang="en-US" sz="1100" dirty="0">
                          <a:solidFill>
                            <a:srgbClr val="161616"/>
                          </a:solidFill>
                          <a:effectLst/>
                          <a:latin typeface="inherit"/>
                        </a:rPr>
                        <a:t> + </a:t>
                      </a:r>
                      <a:r>
                        <a:rPr lang="en-US" sz="1100" b="1" dirty="0">
                          <a:solidFill>
                            <a:srgbClr val="161616"/>
                          </a:solidFill>
                          <a:effectLst/>
                          <a:latin typeface="inherit"/>
                        </a:rPr>
                        <a:t>Vector DB (e.g., Milvus/IBM Cloud Vector Search)</a:t>
                      </a:r>
                      <a:endParaRPr lang="en-US" sz="1100" dirty="0">
                        <a:solidFill>
                          <a:srgbClr val="161616"/>
                        </a:solidFill>
                        <a:effectLst/>
                        <a:latin typeface="inherit"/>
                      </a:endParaRPr>
                    </a:p>
                  </a:txBody>
                  <a:tcPr marL="39113" marR="39113" marT="19557" marB="19557" anchor="ctr">
                    <a:lnL>
                      <a:noFill/>
                    </a:lnL>
                    <a:lnR>
                      <a:noFill/>
                    </a:lnR>
                    <a:lnT w="6096" cap="flat" cmpd="sng" algn="ctr">
                      <a:solidFill>
                        <a:srgbClr val="70B726"/>
                      </a:solidFill>
                      <a:prstDash val="solid"/>
                      <a:round/>
                      <a:headEnd type="none" w="med" len="med"/>
                      <a:tailEnd type="none" w="med" len="med"/>
                    </a:lnT>
                    <a:lnB w="6096" cap="flat" cmpd="sng" algn="ctr">
                      <a:solidFill>
                        <a:srgbClr val="10AE26"/>
                      </a:solidFill>
                      <a:prstDash val="solid"/>
                      <a:round/>
                      <a:headEnd type="none" w="med" len="med"/>
                      <a:tailEnd type="none" w="med" len="med"/>
                    </a:lnB>
                    <a:solidFill>
                      <a:srgbClr val="FFFFFF"/>
                    </a:solidFill>
                  </a:tcPr>
                </a:tc>
                <a:tc>
                  <a:txBody>
                    <a:bodyPr/>
                    <a:lstStyle/>
                    <a:p>
                      <a:pPr algn="l" fontAlgn="ctr">
                        <a:buNone/>
                      </a:pPr>
                      <a:r>
                        <a:rPr lang="en-US" sz="1100">
                          <a:solidFill>
                            <a:srgbClr val="161616"/>
                          </a:solidFill>
                          <a:effectLst/>
                          <a:latin typeface="inherit"/>
                        </a:rPr>
                        <a:t>Indexes nutrition datasets (USDA, EFSA, clinical guidelines); retrieves relevant facts for the Nutrition Knowledge Agent.</a:t>
                      </a:r>
                    </a:p>
                  </a:txBody>
                  <a:tcPr marL="39113" marR="39113" marT="19557" marB="19557" anchor="ctr">
                    <a:lnL>
                      <a:noFill/>
                    </a:lnL>
                    <a:lnR>
                      <a:noFill/>
                    </a:lnR>
                    <a:lnT w="6096" cap="flat" cmpd="sng" algn="ctr">
                      <a:solidFill>
                        <a:srgbClr val="90B526"/>
                      </a:solidFill>
                      <a:prstDash val="solid"/>
                      <a:round/>
                      <a:headEnd type="none" w="med" len="med"/>
                      <a:tailEnd type="none" w="med" len="med"/>
                    </a:lnT>
                    <a:lnB w="6096" cap="flat" cmpd="sng" algn="ctr">
                      <a:solidFill>
                        <a:srgbClr val="70B726"/>
                      </a:solidFill>
                      <a:prstDash val="solid"/>
                      <a:round/>
                      <a:headEnd type="none" w="med" len="med"/>
                      <a:tailEnd type="none" w="med" len="med"/>
                    </a:lnB>
                    <a:solidFill>
                      <a:srgbClr val="FFFFFF"/>
                    </a:solidFill>
                  </a:tcPr>
                </a:tc>
                <a:extLst>
                  <a:ext uri="{0D108BD9-81ED-4DB2-BD59-A6C34878D82A}">
                    <a16:rowId xmlns:a16="http://schemas.microsoft.com/office/drawing/2014/main" val="3321870218"/>
                  </a:ext>
                </a:extLst>
              </a:tr>
              <a:tr h="664814">
                <a:tc>
                  <a:txBody>
                    <a:bodyPr/>
                    <a:lstStyle/>
                    <a:p>
                      <a:pPr algn="l" fontAlgn="ctr">
                        <a:buNone/>
                      </a:pPr>
                      <a:r>
                        <a:rPr lang="en-US" sz="1100" b="1" dirty="0">
                          <a:solidFill>
                            <a:srgbClr val="161616"/>
                          </a:solidFill>
                          <a:effectLst/>
                          <a:latin typeface="inherit"/>
                        </a:rPr>
                        <a:t>Image &amp; Speech Processing</a:t>
                      </a:r>
                      <a:endParaRPr lang="en-US" sz="1100" dirty="0">
                        <a:solidFill>
                          <a:srgbClr val="161616"/>
                        </a:solidFill>
                        <a:effectLst/>
                        <a:latin typeface="inherit"/>
                      </a:endParaRPr>
                    </a:p>
                  </a:txBody>
                  <a:tcPr marL="39113" marR="39113" marT="19557" marB="19557" anchor="ctr">
                    <a:lnL>
                      <a:noFill/>
                    </a:lnL>
                    <a:lnR>
                      <a:noFill/>
                    </a:lnR>
                    <a:lnT w="6096" cap="flat" cmpd="sng" algn="ctr">
                      <a:solidFill>
                        <a:srgbClr val="B0AD26"/>
                      </a:solidFill>
                      <a:prstDash val="solid"/>
                      <a:round/>
                      <a:headEnd type="none" w="med" len="med"/>
                      <a:tailEnd type="none" w="med" len="med"/>
                    </a:lnT>
                    <a:lnB w="6096" cap="flat" cmpd="sng" algn="ctr">
                      <a:solidFill>
                        <a:srgbClr val="F0AC26"/>
                      </a:solidFill>
                      <a:prstDash val="solid"/>
                      <a:round/>
                      <a:headEnd type="none" w="med" len="med"/>
                      <a:tailEnd type="none" w="med" len="med"/>
                    </a:lnB>
                    <a:solidFill>
                      <a:srgbClr val="FFFFFF"/>
                    </a:solidFill>
                  </a:tcPr>
                </a:tc>
                <a:tc>
                  <a:txBody>
                    <a:bodyPr/>
                    <a:lstStyle/>
                    <a:p>
                      <a:pPr algn="l" fontAlgn="ctr">
                        <a:buNone/>
                      </a:pPr>
                      <a:r>
                        <a:rPr lang="en-US" sz="1100" b="1" dirty="0">
                          <a:solidFill>
                            <a:srgbClr val="161616"/>
                          </a:solidFill>
                          <a:effectLst/>
                          <a:latin typeface="inherit"/>
                        </a:rPr>
                        <a:t>IBM Visual Recognition</a:t>
                      </a:r>
                      <a:r>
                        <a:rPr lang="en-US" sz="1100" dirty="0">
                          <a:solidFill>
                            <a:srgbClr val="161616"/>
                          </a:solidFill>
                          <a:effectLst/>
                          <a:latin typeface="inherit"/>
                        </a:rPr>
                        <a:t> (food‑image classification) + </a:t>
                      </a:r>
                      <a:r>
                        <a:rPr lang="en-US" sz="1100" b="1" dirty="0">
                          <a:solidFill>
                            <a:srgbClr val="161616"/>
                          </a:solidFill>
                          <a:effectLst/>
                          <a:latin typeface="inherit"/>
                        </a:rPr>
                        <a:t>IBM Speech‑to‑Text</a:t>
                      </a:r>
                      <a:endParaRPr lang="en-US" sz="1100" dirty="0">
                        <a:solidFill>
                          <a:srgbClr val="161616"/>
                        </a:solidFill>
                        <a:effectLst/>
                        <a:latin typeface="inherit"/>
                      </a:endParaRPr>
                    </a:p>
                  </a:txBody>
                  <a:tcPr marL="39113" marR="39113" marT="19557" marB="19557" anchor="ctr">
                    <a:lnL>
                      <a:noFill/>
                    </a:lnL>
                    <a:lnR>
                      <a:noFill/>
                    </a:lnR>
                    <a:lnT w="6096" cap="flat" cmpd="sng" algn="ctr">
                      <a:solidFill>
                        <a:srgbClr val="10AE26"/>
                      </a:solidFill>
                      <a:prstDash val="solid"/>
                      <a:round/>
                      <a:headEnd type="none" w="med" len="med"/>
                      <a:tailEnd type="none" w="med" len="med"/>
                    </a:lnT>
                    <a:lnB w="6096" cap="flat" cmpd="sng" algn="ctr">
                      <a:solidFill>
                        <a:srgbClr val="30B826"/>
                      </a:solidFill>
                      <a:prstDash val="solid"/>
                      <a:round/>
                      <a:headEnd type="none" w="med" len="med"/>
                      <a:tailEnd type="none" w="med" len="med"/>
                    </a:lnB>
                    <a:solidFill>
                      <a:srgbClr val="FFFFFF"/>
                    </a:solidFill>
                  </a:tcPr>
                </a:tc>
                <a:tc>
                  <a:txBody>
                    <a:bodyPr/>
                    <a:lstStyle/>
                    <a:p>
                      <a:pPr algn="l" fontAlgn="ctr">
                        <a:buNone/>
                      </a:pPr>
                      <a:r>
                        <a:rPr lang="en-US" sz="1100" dirty="0">
                          <a:solidFill>
                            <a:srgbClr val="161616"/>
                          </a:solidFill>
                          <a:effectLst/>
                          <a:latin typeface="inherit"/>
                        </a:rPr>
                        <a:t>Convert photos or voice logs into structured food‑item lists and portion estimates.</a:t>
                      </a:r>
                    </a:p>
                  </a:txBody>
                  <a:tcPr marL="39113" marR="39113" marT="19557" marB="19557" anchor="ctr">
                    <a:lnL>
                      <a:noFill/>
                    </a:lnL>
                    <a:lnR>
                      <a:noFill/>
                    </a:lnR>
                    <a:lnT w="6096" cap="flat" cmpd="sng" algn="ctr">
                      <a:solidFill>
                        <a:srgbClr val="70B726"/>
                      </a:solidFill>
                      <a:prstDash val="solid"/>
                      <a:round/>
                      <a:headEnd type="none" w="med" len="med"/>
                      <a:tailEnd type="none" w="med" len="med"/>
                    </a:lnT>
                    <a:lnB w="6096" cap="flat" cmpd="sng" algn="ctr">
                      <a:solidFill>
                        <a:srgbClr val="90B526"/>
                      </a:solidFill>
                      <a:prstDash val="solid"/>
                      <a:round/>
                      <a:headEnd type="none" w="med" len="med"/>
                      <a:tailEnd type="none" w="med" len="med"/>
                    </a:lnB>
                    <a:solidFill>
                      <a:srgbClr val="FFFFFF"/>
                    </a:solidFill>
                  </a:tcPr>
                </a:tc>
                <a:extLst>
                  <a:ext uri="{0D108BD9-81ED-4DB2-BD59-A6C34878D82A}">
                    <a16:rowId xmlns:a16="http://schemas.microsoft.com/office/drawing/2014/main" val="1099516450"/>
                  </a:ext>
                </a:extLst>
              </a:tr>
              <a:tr h="1103841">
                <a:tc>
                  <a:txBody>
                    <a:bodyPr/>
                    <a:lstStyle/>
                    <a:p>
                      <a:pPr algn="l" fontAlgn="ctr">
                        <a:buNone/>
                      </a:pPr>
                      <a:r>
                        <a:rPr lang="en-US" sz="1100" b="1">
                          <a:solidFill>
                            <a:srgbClr val="161616"/>
                          </a:solidFill>
                          <a:effectLst/>
                          <a:latin typeface="inherit"/>
                        </a:rPr>
                        <a:t>Data Sources</a:t>
                      </a:r>
                      <a:endParaRPr lang="en-US" sz="1100">
                        <a:solidFill>
                          <a:srgbClr val="161616"/>
                        </a:solidFill>
                        <a:effectLst/>
                        <a:latin typeface="inherit"/>
                      </a:endParaRPr>
                    </a:p>
                  </a:txBody>
                  <a:tcPr marL="39113" marR="39113" marT="19557" marB="19557" anchor="ctr">
                    <a:lnL>
                      <a:noFill/>
                    </a:lnL>
                    <a:lnR>
                      <a:noFill/>
                    </a:lnR>
                    <a:lnT w="6096" cap="flat" cmpd="sng" algn="ctr">
                      <a:solidFill>
                        <a:srgbClr val="F0AC26"/>
                      </a:solidFill>
                      <a:prstDash val="solid"/>
                      <a:round/>
                      <a:headEnd type="none" w="med" len="med"/>
                      <a:tailEnd type="none" w="med" len="med"/>
                    </a:lnT>
                    <a:lnB w="6096" cap="flat" cmpd="sng" algn="ctr">
                      <a:solidFill>
                        <a:srgbClr val="50B926"/>
                      </a:solidFill>
                      <a:prstDash val="solid"/>
                      <a:round/>
                      <a:headEnd type="none" w="med" len="med"/>
                      <a:tailEnd type="none" w="med" len="med"/>
                    </a:lnB>
                    <a:solidFill>
                      <a:srgbClr val="FFFFFF"/>
                    </a:solidFill>
                  </a:tcPr>
                </a:tc>
                <a:tc>
                  <a:txBody>
                    <a:bodyPr/>
                    <a:lstStyle/>
                    <a:p>
                      <a:pPr algn="l" fontAlgn="ctr">
                        <a:buNone/>
                      </a:pPr>
                      <a:r>
                        <a:rPr lang="en-US" sz="1100">
                          <a:solidFill>
                            <a:srgbClr val="161616"/>
                          </a:solidFill>
                          <a:effectLst/>
                          <a:latin typeface="inherit"/>
                        </a:rPr>
                        <a:t>USDA FoodData Central, EFSA, WHO nutrient recommendations, ADA/AHA clinical guidelines, peer‑reviewed nutrition journals (via CrossRef API)</a:t>
                      </a:r>
                    </a:p>
                  </a:txBody>
                  <a:tcPr marL="39113" marR="39113" marT="19557" marB="19557" anchor="ctr">
                    <a:lnL>
                      <a:noFill/>
                    </a:lnL>
                    <a:lnR>
                      <a:noFill/>
                    </a:lnR>
                    <a:lnT w="6096" cap="flat" cmpd="sng" algn="ctr">
                      <a:solidFill>
                        <a:srgbClr val="30B826"/>
                      </a:solidFill>
                      <a:prstDash val="solid"/>
                      <a:round/>
                      <a:headEnd type="none" w="med" len="med"/>
                      <a:tailEnd type="none" w="med" len="med"/>
                    </a:lnT>
                    <a:lnB w="6096" cap="flat" cmpd="sng" algn="ctr">
                      <a:solidFill>
                        <a:srgbClr val="10AE26"/>
                      </a:solidFill>
                      <a:prstDash val="solid"/>
                      <a:round/>
                      <a:headEnd type="none" w="med" len="med"/>
                      <a:tailEnd type="none" w="med" len="med"/>
                    </a:lnB>
                    <a:solidFill>
                      <a:srgbClr val="FFFFFF"/>
                    </a:solidFill>
                  </a:tcPr>
                </a:tc>
                <a:tc>
                  <a:txBody>
                    <a:bodyPr/>
                    <a:lstStyle/>
                    <a:p>
                      <a:pPr algn="l" fontAlgn="ctr">
                        <a:buNone/>
                      </a:pPr>
                      <a:r>
                        <a:rPr lang="en-US" sz="1100" dirty="0">
                          <a:solidFill>
                            <a:srgbClr val="161616"/>
                          </a:solidFill>
                          <a:effectLst/>
                          <a:latin typeface="inherit"/>
                        </a:rPr>
                        <a:t>Authoritative nutrition facts and disease‑specific diet rules.</a:t>
                      </a:r>
                    </a:p>
                  </a:txBody>
                  <a:tcPr marL="39113" marR="39113" marT="19557" marB="19557" anchor="ctr">
                    <a:lnL>
                      <a:noFill/>
                    </a:lnL>
                    <a:lnR>
                      <a:noFill/>
                    </a:lnR>
                    <a:lnT w="6096" cap="flat" cmpd="sng" algn="ctr">
                      <a:solidFill>
                        <a:srgbClr val="90B526"/>
                      </a:solidFill>
                      <a:prstDash val="solid"/>
                      <a:round/>
                      <a:headEnd type="none" w="med" len="med"/>
                      <a:tailEnd type="none" w="med" len="med"/>
                    </a:lnT>
                    <a:lnB w="6096" cap="flat" cmpd="sng" algn="ctr">
                      <a:solidFill>
                        <a:srgbClr val="30A326"/>
                      </a:solidFill>
                      <a:prstDash val="solid"/>
                      <a:round/>
                      <a:headEnd type="none" w="med" len="med"/>
                      <a:tailEnd type="none" w="med" len="med"/>
                    </a:lnB>
                    <a:solidFill>
                      <a:srgbClr val="FFFFFF"/>
                    </a:solidFill>
                  </a:tcPr>
                </a:tc>
                <a:extLst>
                  <a:ext uri="{0D108BD9-81ED-4DB2-BD59-A6C34878D82A}">
                    <a16:rowId xmlns:a16="http://schemas.microsoft.com/office/drawing/2014/main" val="3941571064"/>
                  </a:ext>
                </a:extLst>
              </a:tr>
              <a:tr h="752619">
                <a:tc>
                  <a:txBody>
                    <a:bodyPr/>
                    <a:lstStyle/>
                    <a:p>
                      <a:pPr algn="l" fontAlgn="ctr">
                        <a:buNone/>
                      </a:pPr>
                      <a:r>
                        <a:rPr lang="en-US" sz="1100" b="1">
                          <a:solidFill>
                            <a:srgbClr val="161616"/>
                          </a:solidFill>
                          <a:effectLst/>
                          <a:latin typeface="inherit"/>
                        </a:rPr>
                        <a:t>Frontend / Dashboard</a:t>
                      </a:r>
                      <a:endParaRPr lang="en-US" sz="1100">
                        <a:solidFill>
                          <a:srgbClr val="161616"/>
                        </a:solidFill>
                        <a:effectLst/>
                        <a:latin typeface="inherit"/>
                      </a:endParaRPr>
                    </a:p>
                  </a:txBody>
                  <a:tcPr marL="39113" marR="39113" marT="19557" marB="19557" anchor="ctr">
                    <a:lnL>
                      <a:noFill/>
                    </a:lnL>
                    <a:lnR>
                      <a:noFill/>
                    </a:lnR>
                    <a:lnT w="6096" cap="flat" cmpd="sng" algn="ctr">
                      <a:solidFill>
                        <a:srgbClr val="50B926"/>
                      </a:solidFill>
                      <a:prstDash val="solid"/>
                      <a:round/>
                      <a:headEnd type="none" w="med" len="med"/>
                      <a:tailEnd type="none" w="med" len="med"/>
                    </a:lnT>
                    <a:lnB w="6096" cap="flat" cmpd="sng" algn="ctr">
                      <a:solidFill>
                        <a:srgbClr val="70B726"/>
                      </a:solidFill>
                      <a:prstDash val="solid"/>
                      <a:round/>
                      <a:headEnd type="none" w="med" len="med"/>
                      <a:tailEnd type="none" w="med" len="med"/>
                    </a:lnB>
                    <a:solidFill>
                      <a:srgbClr val="E8E8E8"/>
                    </a:solidFill>
                  </a:tcPr>
                </a:tc>
                <a:tc>
                  <a:txBody>
                    <a:bodyPr/>
                    <a:lstStyle/>
                    <a:p>
                      <a:pPr algn="l" fontAlgn="ctr">
                        <a:buNone/>
                      </a:pPr>
                      <a:r>
                        <a:rPr lang="en-US" sz="1100" b="1">
                          <a:solidFill>
                            <a:srgbClr val="161616"/>
                          </a:solidFill>
                          <a:effectLst/>
                          <a:latin typeface="inherit"/>
                        </a:rPr>
                        <a:t>IBM Cloud Pak for Data</a:t>
                      </a:r>
                      <a:r>
                        <a:rPr lang="en-US" sz="1100">
                          <a:solidFill>
                            <a:srgbClr val="161616"/>
                          </a:solidFill>
                          <a:effectLst/>
                          <a:latin typeface="inherit"/>
                        </a:rPr>
                        <a:t> (Dash/Plotly), </a:t>
                      </a:r>
                      <a:r>
                        <a:rPr lang="en-US" sz="1100" b="1">
                          <a:solidFill>
                            <a:srgbClr val="161616"/>
                          </a:solidFill>
                          <a:effectLst/>
                          <a:latin typeface="inherit"/>
                        </a:rPr>
                        <a:t>React</a:t>
                      </a:r>
                      <a:r>
                        <a:rPr lang="en-US" sz="1100">
                          <a:solidFill>
                            <a:srgbClr val="161616"/>
                          </a:solidFill>
                          <a:effectLst/>
                          <a:latin typeface="inherit"/>
                        </a:rPr>
                        <a:t> UI, </a:t>
                      </a:r>
                      <a:r>
                        <a:rPr lang="en-US" sz="1100" b="1">
                          <a:solidFill>
                            <a:srgbClr val="161616"/>
                          </a:solidFill>
                          <a:effectLst/>
                          <a:latin typeface="inherit"/>
                        </a:rPr>
                        <a:t>IBM Cloud Object Storage</a:t>
                      </a:r>
                      <a:r>
                        <a:rPr lang="en-US" sz="1100">
                          <a:solidFill>
                            <a:srgbClr val="161616"/>
                          </a:solidFill>
                          <a:effectLst/>
                          <a:latin typeface="inherit"/>
                        </a:rPr>
                        <a:t> for user logs</a:t>
                      </a:r>
                    </a:p>
                  </a:txBody>
                  <a:tcPr marL="39113" marR="39113" marT="19557" marB="19557" anchor="ctr">
                    <a:lnL>
                      <a:noFill/>
                    </a:lnL>
                    <a:lnR>
                      <a:noFill/>
                    </a:lnR>
                    <a:lnT w="6096" cap="flat" cmpd="sng" algn="ctr">
                      <a:solidFill>
                        <a:srgbClr val="10AE26"/>
                      </a:solidFill>
                      <a:prstDash val="solid"/>
                      <a:round/>
                      <a:headEnd type="none" w="med" len="med"/>
                      <a:tailEnd type="none" w="med" len="med"/>
                    </a:lnT>
                    <a:lnB w="6096" cap="flat" cmpd="sng" algn="ctr">
                      <a:solidFill>
                        <a:srgbClr val="50B026"/>
                      </a:solidFill>
                      <a:prstDash val="solid"/>
                      <a:round/>
                      <a:headEnd type="none" w="med" len="med"/>
                      <a:tailEnd type="none" w="med" len="med"/>
                    </a:lnB>
                    <a:solidFill>
                      <a:srgbClr val="E8E8E8"/>
                    </a:solidFill>
                  </a:tcPr>
                </a:tc>
                <a:tc>
                  <a:txBody>
                    <a:bodyPr/>
                    <a:lstStyle/>
                    <a:p>
                      <a:pPr algn="l" fontAlgn="ctr">
                        <a:buNone/>
                      </a:pPr>
                      <a:r>
                        <a:rPr lang="en-US" sz="1100" dirty="0">
                          <a:solidFill>
                            <a:srgbClr val="161616"/>
                          </a:solidFill>
                          <a:effectLst/>
                          <a:latin typeface="inherit"/>
                        </a:rPr>
                        <a:t>Interactive visualizations, progress tracking, and meal‑plan export.</a:t>
                      </a:r>
                    </a:p>
                  </a:txBody>
                  <a:tcPr marL="39113" marR="39113" marT="19557" marB="19557" anchor="ctr">
                    <a:lnL>
                      <a:noFill/>
                    </a:lnL>
                    <a:lnR>
                      <a:noFill/>
                    </a:lnR>
                    <a:lnT w="6096" cap="flat" cmpd="sng" algn="ctr">
                      <a:solidFill>
                        <a:srgbClr val="30A326"/>
                      </a:solidFill>
                      <a:prstDash val="solid"/>
                      <a:round/>
                      <a:headEnd type="none" w="med" len="med"/>
                      <a:tailEnd type="none" w="med" len="med"/>
                    </a:lnT>
                    <a:lnB w="6096" cap="flat" cmpd="sng" algn="ctr">
                      <a:solidFill>
                        <a:srgbClr val="90B526"/>
                      </a:solidFill>
                      <a:prstDash val="solid"/>
                      <a:round/>
                      <a:headEnd type="none" w="med" len="med"/>
                      <a:tailEnd type="none" w="med" len="med"/>
                    </a:lnB>
                    <a:solidFill>
                      <a:srgbClr val="E8E8E8"/>
                    </a:solidFill>
                  </a:tcPr>
                </a:tc>
                <a:extLst>
                  <a:ext uri="{0D108BD9-81ED-4DB2-BD59-A6C34878D82A}">
                    <a16:rowId xmlns:a16="http://schemas.microsoft.com/office/drawing/2014/main" val="3152381301"/>
                  </a:ext>
                </a:extLst>
              </a:tr>
              <a:tr h="489203">
                <a:tc>
                  <a:txBody>
                    <a:bodyPr/>
                    <a:lstStyle/>
                    <a:p>
                      <a:pPr algn="l" fontAlgn="ctr">
                        <a:buNone/>
                      </a:pPr>
                      <a:r>
                        <a:rPr lang="en-US" sz="1100" b="1">
                          <a:solidFill>
                            <a:srgbClr val="161616"/>
                          </a:solidFill>
                          <a:effectLst/>
                          <a:latin typeface="inherit"/>
                        </a:rPr>
                        <a:t>Security &amp; Compliance</a:t>
                      </a:r>
                      <a:endParaRPr lang="en-US" sz="1100">
                        <a:solidFill>
                          <a:srgbClr val="161616"/>
                        </a:solidFill>
                        <a:effectLst/>
                        <a:latin typeface="inherit"/>
                      </a:endParaRPr>
                    </a:p>
                  </a:txBody>
                  <a:tcPr marL="39113" marR="39113" marT="19557" marB="19557" anchor="ctr">
                    <a:lnL>
                      <a:noFill/>
                    </a:lnL>
                    <a:lnR>
                      <a:noFill/>
                    </a:lnR>
                    <a:lnT w="6096" cap="flat" cmpd="sng" algn="ctr">
                      <a:solidFill>
                        <a:srgbClr val="70B726"/>
                      </a:solidFill>
                      <a:prstDash val="solid"/>
                      <a:round/>
                      <a:headEnd type="none" w="med" len="med"/>
                      <a:tailEnd type="none" w="med" len="med"/>
                    </a:lnT>
                    <a:lnB w="6096" cap="flat" cmpd="sng" algn="ctr">
                      <a:solidFill>
                        <a:srgbClr val="10A526"/>
                      </a:solidFill>
                      <a:prstDash val="solid"/>
                      <a:round/>
                      <a:headEnd type="none" w="med" len="med"/>
                      <a:tailEnd type="none" w="med" len="med"/>
                    </a:lnB>
                    <a:solidFill>
                      <a:srgbClr val="FFFFFF"/>
                    </a:solidFill>
                  </a:tcPr>
                </a:tc>
                <a:tc>
                  <a:txBody>
                    <a:bodyPr/>
                    <a:lstStyle/>
                    <a:p>
                      <a:pPr algn="l" fontAlgn="ctr">
                        <a:buNone/>
                      </a:pPr>
                      <a:r>
                        <a:rPr lang="en-US" sz="1100">
                          <a:solidFill>
                            <a:srgbClr val="161616"/>
                          </a:solidFill>
                          <a:effectLst/>
                          <a:latin typeface="inherit"/>
                        </a:rPr>
                        <a:t>IBM Security Verify, HIPAA‑compatible data storage</a:t>
                      </a:r>
                    </a:p>
                  </a:txBody>
                  <a:tcPr marL="39113" marR="39113" marT="19557" marB="19557" anchor="ctr">
                    <a:lnL>
                      <a:noFill/>
                    </a:lnL>
                    <a:lnR>
                      <a:noFill/>
                    </a:lnR>
                    <a:lnT w="6096" cap="flat" cmpd="sng" algn="ctr">
                      <a:solidFill>
                        <a:srgbClr val="50B026"/>
                      </a:solidFill>
                      <a:prstDash val="solid"/>
                      <a:round/>
                      <a:headEnd type="none" w="med" len="med"/>
                      <a:tailEnd type="none" w="med" len="med"/>
                    </a:lnT>
                    <a:lnB w="6096" cap="flat" cmpd="sng" algn="ctr">
                      <a:solidFill>
                        <a:srgbClr val="70A226"/>
                      </a:solidFill>
                      <a:prstDash val="solid"/>
                      <a:round/>
                      <a:headEnd type="none" w="med" len="med"/>
                      <a:tailEnd type="none" w="med" len="med"/>
                    </a:lnB>
                    <a:solidFill>
                      <a:srgbClr val="FFFFFF"/>
                    </a:solidFill>
                  </a:tcPr>
                </a:tc>
                <a:tc>
                  <a:txBody>
                    <a:bodyPr/>
                    <a:lstStyle/>
                    <a:p>
                      <a:pPr algn="l" fontAlgn="ctr">
                        <a:buNone/>
                      </a:pPr>
                      <a:r>
                        <a:rPr lang="en-US" sz="1100" dirty="0">
                          <a:solidFill>
                            <a:srgbClr val="161616"/>
                          </a:solidFill>
                          <a:effectLst/>
                          <a:latin typeface="inherit"/>
                        </a:rPr>
                        <a:t>Protect personal health information.</a:t>
                      </a:r>
                    </a:p>
                  </a:txBody>
                  <a:tcPr marL="39113" marR="39113" marT="19557" marB="19557" anchor="ctr">
                    <a:lnL>
                      <a:noFill/>
                    </a:lnL>
                    <a:lnR>
                      <a:noFill/>
                    </a:lnR>
                    <a:lnT w="6096" cap="flat" cmpd="sng" algn="ctr">
                      <a:solidFill>
                        <a:srgbClr val="90B526"/>
                      </a:solidFill>
                      <a:prstDash val="solid"/>
                      <a:round/>
                      <a:headEnd type="none" w="med" len="med"/>
                      <a:tailEnd type="none" w="med" len="med"/>
                    </a:lnT>
                    <a:lnB w="6096" cap="flat" cmpd="sng" algn="ctr">
                      <a:solidFill>
                        <a:srgbClr val="30B826"/>
                      </a:solidFill>
                      <a:prstDash val="solid"/>
                      <a:round/>
                      <a:headEnd type="none" w="med" len="med"/>
                      <a:tailEnd type="none" w="med" len="med"/>
                    </a:lnB>
                    <a:solidFill>
                      <a:srgbClr val="FFFFFF"/>
                    </a:solidFill>
                  </a:tcPr>
                </a:tc>
                <a:extLst>
                  <a:ext uri="{0D108BD9-81ED-4DB2-BD59-A6C34878D82A}">
                    <a16:rowId xmlns:a16="http://schemas.microsoft.com/office/drawing/2014/main" val="4058971082"/>
                  </a:ext>
                </a:extLst>
              </a:tr>
            </a:tbl>
          </a:graphicData>
        </a:graphic>
      </p:graphicFrame>
    </p:spTree>
    <p:extLst>
      <p:ext uri="{BB962C8B-B14F-4D97-AF65-F5344CB8AC3E}">
        <p14:creationId xmlns:p14="http://schemas.microsoft.com/office/powerpoint/2010/main" val="37644058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a:extLst>
            <a:ext uri="{FF2B5EF4-FFF2-40B4-BE49-F238E27FC236}">
              <a16:creationId xmlns:a16="http://schemas.microsoft.com/office/drawing/2014/main" id="{CDF2A78E-5A0E-6814-8AF4-0AE54B0366E1}"/>
            </a:ext>
          </a:extLst>
        </p:cNvPr>
        <p:cNvGrpSpPr/>
        <p:nvPr/>
      </p:nvGrpSpPr>
      <p:grpSpPr>
        <a:xfrm>
          <a:off x="0" y="0"/>
          <a:ext cx="0" cy="0"/>
          <a:chOff x="0" y="0"/>
          <a:chExt cx="0" cy="0"/>
        </a:xfrm>
      </p:grpSpPr>
      <p:sp>
        <p:nvSpPr>
          <p:cNvPr id="135" name="Google Shape;135;p5">
            <a:extLst>
              <a:ext uri="{FF2B5EF4-FFF2-40B4-BE49-F238E27FC236}">
                <a16:creationId xmlns:a16="http://schemas.microsoft.com/office/drawing/2014/main" id="{2A145802-2DD3-EEBA-7D44-210C05B98C91}"/>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dirty="0" err="1">
                <a:sym typeface="Times New Roman"/>
              </a:rPr>
              <a:t>Langflow</a:t>
            </a:r>
            <a:r>
              <a:rPr lang="en-US" sz="3500" b="1" i="0" u="none" strike="noStrike" cap="none" dirty="0">
                <a:solidFill>
                  <a:srgbClr val="051D3A"/>
                </a:solidFill>
                <a:latin typeface="Times New Roman"/>
                <a:ea typeface="Times New Roman"/>
                <a:cs typeface="Times New Roman"/>
                <a:sym typeface="Times New Roman"/>
              </a:rPr>
              <a:t> </a:t>
            </a:r>
            <a:r>
              <a:rPr lang="en-US" sz="2400" b="1" dirty="0">
                <a:sym typeface="Times New Roman"/>
              </a:rPr>
              <a:t>component Used -</a:t>
            </a:r>
            <a:endParaRPr sz="2400" b="1" dirty="0">
              <a:sym typeface="Times New Roman"/>
            </a:endParaRPr>
          </a:p>
        </p:txBody>
      </p:sp>
      <p:sp>
        <p:nvSpPr>
          <p:cNvPr id="148" name="Google Shape;148;p5">
            <a:extLst>
              <a:ext uri="{FF2B5EF4-FFF2-40B4-BE49-F238E27FC236}">
                <a16:creationId xmlns:a16="http://schemas.microsoft.com/office/drawing/2014/main" id="{69E3EADC-1EAD-7419-145C-20998925206E}"/>
              </a:ext>
            </a:extLst>
          </p:cNvPr>
          <p:cNvSpPr/>
          <p:nvPr/>
        </p:nvSpPr>
        <p:spPr>
          <a:xfrm>
            <a:off x="2264331" y="6784578"/>
            <a:ext cx="2140744"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49" name="Google Shape;149;p5">
            <a:extLst>
              <a:ext uri="{FF2B5EF4-FFF2-40B4-BE49-F238E27FC236}">
                <a16:creationId xmlns:a16="http://schemas.microsoft.com/office/drawing/2014/main" id="{04E5872A-C331-C8F3-5D71-8E953BAAFE03}"/>
              </a:ext>
            </a:extLst>
          </p:cNvPr>
          <p:cNvSpPr/>
          <p:nvPr/>
        </p:nvSpPr>
        <p:spPr>
          <a:xfrm>
            <a:off x="1782604"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0" name="Google Shape;150;p5">
            <a:extLst>
              <a:ext uri="{FF2B5EF4-FFF2-40B4-BE49-F238E27FC236}">
                <a16:creationId xmlns:a16="http://schemas.microsoft.com/office/drawing/2014/main" id="{76EF3801-5D99-5EFA-9AA2-AD265775E354}"/>
              </a:ext>
            </a:extLst>
          </p:cNvPr>
          <p:cNvSpPr/>
          <p:nvPr/>
        </p:nvSpPr>
        <p:spPr>
          <a:xfrm>
            <a:off x="5732383"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1" name="Google Shape;151;p5">
            <a:extLst>
              <a:ext uri="{FF2B5EF4-FFF2-40B4-BE49-F238E27FC236}">
                <a16:creationId xmlns:a16="http://schemas.microsoft.com/office/drawing/2014/main" id="{DAD76A8A-9F2C-9EA9-25E9-40CD0FFAA869}"/>
              </a:ext>
            </a:extLst>
          </p:cNvPr>
          <p:cNvSpPr/>
          <p:nvPr/>
        </p:nvSpPr>
        <p:spPr>
          <a:xfrm>
            <a:off x="5077301"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2" name="Google Shape;152;p5">
            <a:extLst>
              <a:ext uri="{FF2B5EF4-FFF2-40B4-BE49-F238E27FC236}">
                <a16:creationId xmlns:a16="http://schemas.microsoft.com/office/drawing/2014/main" id="{8D9C4260-2673-337C-C898-4C22E0F8FD65}"/>
              </a:ext>
            </a:extLst>
          </p:cNvPr>
          <p:cNvSpPr/>
          <p:nvPr/>
        </p:nvSpPr>
        <p:spPr>
          <a:xfrm>
            <a:off x="9027081"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3" name="Google Shape;153;p5">
            <a:extLst>
              <a:ext uri="{FF2B5EF4-FFF2-40B4-BE49-F238E27FC236}">
                <a16:creationId xmlns:a16="http://schemas.microsoft.com/office/drawing/2014/main" id="{6167C3C6-3747-E373-84C3-3927C443B067}"/>
              </a:ext>
            </a:extLst>
          </p:cNvPr>
          <p:cNvSpPr/>
          <p:nvPr/>
        </p:nvSpPr>
        <p:spPr>
          <a:xfrm>
            <a:off x="8371999"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graphicFrame>
        <p:nvGraphicFramePr>
          <p:cNvPr id="3" name="Table 2">
            <a:extLst>
              <a:ext uri="{FF2B5EF4-FFF2-40B4-BE49-F238E27FC236}">
                <a16:creationId xmlns:a16="http://schemas.microsoft.com/office/drawing/2014/main" id="{67EDBBF9-C3F3-F4D2-4BD6-EC7A07B67D10}"/>
              </a:ext>
            </a:extLst>
          </p:cNvPr>
          <p:cNvGraphicFramePr>
            <a:graphicFrameLocks noGrp="1"/>
          </p:cNvGraphicFramePr>
          <p:nvPr>
            <p:extLst>
              <p:ext uri="{D42A27DB-BD31-4B8C-83A1-F6EECF244321}">
                <p14:modId xmlns:p14="http://schemas.microsoft.com/office/powerpoint/2010/main" val="808358718"/>
              </p:ext>
            </p:extLst>
          </p:nvPr>
        </p:nvGraphicFramePr>
        <p:xfrm>
          <a:off x="537590" y="1005840"/>
          <a:ext cx="7549770" cy="5522919"/>
        </p:xfrm>
        <a:graphic>
          <a:graphicData uri="http://schemas.openxmlformats.org/drawingml/2006/table">
            <a:tbl>
              <a:tblPr/>
              <a:tblGrid>
                <a:gridCol w="2516590">
                  <a:extLst>
                    <a:ext uri="{9D8B030D-6E8A-4147-A177-3AD203B41FA5}">
                      <a16:colId xmlns:a16="http://schemas.microsoft.com/office/drawing/2014/main" val="1999818985"/>
                    </a:ext>
                  </a:extLst>
                </a:gridCol>
                <a:gridCol w="2516590">
                  <a:extLst>
                    <a:ext uri="{9D8B030D-6E8A-4147-A177-3AD203B41FA5}">
                      <a16:colId xmlns:a16="http://schemas.microsoft.com/office/drawing/2014/main" val="846787623"/>
                    </a:ext>
                  </a:extLst>
                </a:gridCol>
                <a:gridCol w="2516590">
                  <a:extLst>
                    <a:ext uri="{9D8B030D-6E8A-4147-A177-3AD203B41FA5}">
                      <a16:colId xmlns:a16="http://schemas.microsoft.com/office/drawing/2014/main" val="1165521996"/>
                    </a:ext>
                  </a:extLst>
                </a:gridCol>
              </a:tblGrid>
              <a:tr h="286997">
                <a:tc>
                  <a:txBody>
                    <a:bodyPr/>
                    <a:lstStyle/>
                    <a:p>
                      <a:pPr algn="l" fontAlgn="ctr">
                        <a:buNone/>
                      </a:pPr>
                      <a:r>
                        <a:rPr lang="en-US" sz="1600" b="1" dirty="0">
                          <a:solidFill>
                            <a:srgbClr val="161616"/>
                          </a:solidFill>
                          <a:effectLst/>
                          <a:latin typeface="inherit"/>
                        </a:rPr>
                        <a:t>Agent</a:t>
                      </a:r>
                    </a:p>
                  </a:txBody>
                  <a:tcPr marL="51343" marR="51343" marT="25672" marB="25672" anchor="ctr">
                    <a:lnL>
                      <a:noFill/>
                    </a:lnL>
                    <a:lnR>
                      <a:noFill/>
                    </a:lnR>
                    <a:lnT>
                      <a:noFill/>
                    </a:lnT>
                    <a:lnB w="6096" cap="flat" cmpd="sng" algn="ctr">
                      <a:solidFill>
                        <a:srgbClr val="F0FF7D"/>
                      </a:solidFill>
                      <a:prstDash val="solid"/>
                      <a:round/>
                      <a:headEnd type="none" w="med" len="med"/>
                      <a:tailEnd type="none" w="med" len="med"/>
                    </a:lnB>
                    <a:solidFill>
                      <a:srgbClr val="E0E0E0"/>
                    </a:solidFill>
                  </a:tcPr>
                </a:tc>
                <a:tc>
                  <a:txBody>
                    <a:bodyPr/>
                    <a:lstStyle/>
                    <a:p>
                      <a:pPr algn="l" fontAlgn="ctr">
                        <a:buNone/>
                      </a:pPr>
                      <a:r>
                        <a:rPr lang="en-US" sz="1600" b="1" dirty="0">
                          <a:solidFill>
                            <a:srgbClr val="161616"/>
                          </a:solidFill>
                          <a:effectLst/>
                          <a:latin typeface="inherit"/>
                        </a:rPr>
                        <a:t>Core Responsibility</a:t>
                      </a:r>
                    </a:p>
                  </a:txBody>
                  <a:tcPr marL="51343" marR="51343" marT="25672" marB="25672" anchor="ctr">
                    <a:lnL>
                      <a:noFill/>
                    </a:lnL>
                    <a:lnR>
                      <a:noFill/>
                    </a:lnR>
                    <a:lnT>
                      <a:noFill/>
                    </a:lnT>
                    <a:lnB w="6096" cap="flat" cmpd="sng" algn="ctr">
                      <a:solidFill>
                        <a:srgbClr val="50FD7D"/>
                      </a:solidFill>
                      <a:prstDash val="solid"/>
                      <a:round/>
                      <a:headEnd type="none" w="med" len="med"/>
                      <a:tailEnd type="none" w="med" len="med"/>
                    </a:lnB>
                    <a:solidFill>
                      <a:srgbClr val="E0E0E0"/>
                    </a:solidFill>
                  </a:tcPr>
                </a:tc>
                <a:tc>
                  <a:txBody>
                    <a:bodyPr/>
                    <a:lstStyle/>
                    <a:p>
                      <a:pPr algn="l" fontAlgn="ctr">
                        <a:buNone/>
                      </a:pPr>
                      <a:r>
                        <a:rPr lang="en-US" sz="1600" b="1" dirty="0">
                          <a:solidFill>
                            <a:srgbClr val="161616"/>
                          </a:solidFill>
                          <a:effectLst/>
                          <a:latin typeface="inherit"/>
                        </a:rPr>
                        <a:t>How Agentic AI Enables It</a:t>
                      </a:r>
                    </a:p>
                  </a:txBody>
                  <a:tcPr marL="51343" marR="51343" marT="25672" marB="25672" anchor="ctr">
                    <a:lnL>
                      <a:noFill/>
                    </a:lnL>
                    <a:lnR>
                      <a:noFill/>
                    </a:lnR>
                    <a:lnT>
                      <a:noFill/>
                    </a:lnT>
                    <a:lnB w="6096" cap="flat" cmpd="sng" algn="ctr">
                      <a:solidFill>
                        <a:srgbClr val="10E97D"/>
                      </a:solidFill>
                      <a:prstDash val="solid"/>
                      <a:round/>
                      <a:headEnd type="none" w="med" len="med"/>
                      <a:tailEnd type="none" w="med" len="med"/>
                    </a:lnB>
                    <a:solidFill>
                      <a:srgbClr val="E0E0E0"/>
                    </a:solidFill>
                  </a:tcPr>
                </a:tc>
                <a:extLst>
                  <a:ext uri="{0D108BD9-81ED-4DB2-BD59-A6C34878D82A}">
                    <a16:rowId xmlns:a16="http://schemas.microsoft.com/office/drawing/2014/main" val="2394482265"/>
                  </a:ext>
                </a:extLst>
              </a:tr>
              <a:tr h="845049">
                <a:tc>
                  <a:txBody>
                    <a:bodyPr/>
                    <a:lstStyle/>
                    <a:p>
                      <a:pPr algn="l" fontAlgn="ctr">
                        <a:buNone/>
                      </a:pPr>
                      <a:r>
                        <a:rPr lang="en-US" sz="1400" b="1" dirty="0">
                          <a:solidFill>
                            <a:srgbClr val="161616"/>
                          </a:solidFill>
                          <a:effectLst/>
                          <a:latin typeface="inherit"/>
                        </a:rPr>
                        <a:t>Nutrition Knowledge Agent</a:t>
                      </a:r>
                      <a:endParaRPr lang="en-US" sz="1400" dirty="0">
                        <a:solidFill>
                          <a:srgbClr val="161616"/>
                        </a:solidFill>
                        <a:effectLst/>
                        <a:latin typeface="inherit"/>
                      </a:endParaRPr>
                    </a:p>
                  </a:txBody>
                  <a:tcPr marL="51343" marR="51343" marT="25672" marB="25672" anchor="ctr">
                    <a:lnL>
                      <a:noFill/>
                    </a:lnL>
                    <a:lnR>
                      <a:noFill/>
                    </a:lnR>
                    <a:lnT w="6096" cap="flat" cmpd="sng" algn="ctr">
                      <a:solidFill>
                        <a:srgbClr val="F0FF7D"/>
                      </a:solidFill>
                      <a:prstDash val="solid"/>
                      <a:round/>
                      <a:headEnd type="none" w="med" len="med"/>
                      <a:tailEnd type="none" w="med" len="med"/>
                    </a:lnT>
                    <a:lnB w="6096" cap="flat" cmpd="sng" algn="ctr">
                      <a:solidFill>
                        <a:srgbClr val="50EE7D"/>
                      </a:solidFill>
                      <a:prstDash val="solid"/>
                      <a:round/>
                      <a:headEnd type="none" w="med" len="med"/>
                      <a:tailEnd type="none" w="med" len="med"/>
                    </a:lnB>
                    <a:solidFill>
                      <a:srgbClr val="FFFFFF"/>
                    </a:solidFill>
                  </a:tcPr>
                </a:tc>
                <a:tc>
                  <a:txBody>
                    <a:bodyPr/>
                    <a:lstStyle/>
                    <a:p>
                      <a:pPr algn="l" fontAlgn="ctr">
                        <a:buNone/>
                      </a:pPr>
                      <a:r>
                        <a:rPr lang="en-US" sz="1400" dirty="0">
                          <a:solidFill>
                            <a:srgbClr val="161616"/>
                          </a:solidFill>
                          <a:effectLst/>
                          <a:latin typeface="inherit"/>
                        </a:rPr>
                        <a:t>Retrieves and summarizes up‑to‑date nutrient values &amp; clinical diet rules.</a:t>
                      </a:r>
                    </a:p>
                  </a:txBody>
                  <a:tcPr marL="51343" marR="51343" marT="25672" marB="25672" anchor="ctr">
                    <a:lnL>
                      <a:noFill/>
                    </a:lnL>
                    <a:lnR>
                      <a:noFill/>
                    </a:lnR>
                    <a:lnT w="6096" cap="flat" cmpd="sng" algn="ctr">
                      <a:solidFill>
                        <a:srgbClr val="50FD7D"/>
                      </a:solidFill>
                      <a:prstDash val="solid"/>
                      <a:round/>
                      <a:headEnd type="none" w="med" len="med"/>
                      <a:tailEnd type="none" w="med" len="med"/>
                    </a:lnT>
                    <a:lnB w="6096" cap="flat" cmpd="sng" algn="ctr">
                      <a:solidFill>
                        <a:srgbClr val="10E97D"/>
                      </a:solidFill>
                      <a:prstDash val="solid"/>
                      <a:round/>
                      <a:headEnd type="none" w="med" len="med"/>
                      <a:tailEnd type="none" w="med" len="med"/>
                    </a:lnB>
                    <a:solidFill>
                      <a:srgbClr val="FFFFFF"/>
                    </a:solidFill>
                  </a:tcPr>
                </a:tc>
                <a:tc>
                  <a:txBody>
                    <a:bodyPr/>
                    <a:lstStyle/>
                    <a:p>
                      <a:pPr algn="l" fontAlgn="ctr">
                        <a:buNone/>
                      </a:pPr>
                      <a:r>
                        <a:rPr lang="en-US" sz="1400">
                          <a:solidFill>
                            <a:srgbClr val="161616"/>
                          </a:solidFill>
                          <a:effectLst/>
                          <a:latin typeface="inherit"/>
                        </a:rPr>
                        <a:t>Uses RAG to query the vector store, then the LLM to synthesize concise answers.</a:t>
                      </a:r>
                    </a:p>
                  </a:txBody>
                  <a:tcPr marL="51343" marR="51343" marT="25672" marB="25672" anchor="ctr">
                    <a:lnL>
                      <a:noFill/>
                    </a:lnL>
                    <a:lnR>
                      <a:noFill/>
                    </a:lnR>
                    <a:lnT w="6096" cap="flat" cmpd="sng" algn="ctr">
                      <a:solidFill>
                        <a:srgbClr val="10E97D"/>
                      </a:solidFill>
                      <a:prstDash val="solid"/>
                      <a:round/>
                      <a:headEnd type="none" w="med" len="med"/>
                      <a:tailEnd type="none" w="med" len="med"/>
                    </a:lnT>
                    <a:lnB w="6096" cap="flat" cmpd="sng" algn="ctr">
                      <a:solidFill>
                        <a:srgbClr val="30F97D"/>
                      </a:solidFill>
                      <a:prstDash val="solid"/>
                      <a:round/>
                      <a:headEnd type="none" w="med" len="med"/>
                      <a:tailEnd type="none" w="med" len="med"/>
                    </a:lnB>
                    <a:solidFill>
                      <a:srgbClr val="FFFFFF"/>
                    </a:solidFill>
                  </a:tcPr>
                </a:tc>
                <a:extLst>
                  <a:ext uri="{0D108BD9-81ED-4DB2-BD59-A6C34878D82A}">
                    <a16:rowId xmlns:a16="http://schemas.microsoft.com/office/drawing/2014/main" val="3901688601"/>
                  </a:ext>
                </a:extLst>
              </a:tr>
              <a:tr h="845049">
                <a:tc>
                  <a:txBody>
                    <a:bodyPr/>
                    <a:lstStyle/>
                    <a:p>
                      <a:pPr algn="l" fontAlgn="ctr">
                        <a:buNone/>
                      </a:pPr>
                      <a:r>
                        <a:rPr lang="en-US" sz="1400" b="1">
                          <a:solidFill>
                            <a:srgbClr val="161616"/>
                          </a:solidFill>
                          <a:effectLst/>
                          <a:latin typeface="inherit"/>
                        </a:rPr>
                        <a:t>Diet Recommendation Agent</a:t>
                      </a:r>
                      <a:endParaRPr lang="en-US" sz="1400">
                        <a:solidFill>
                          <a:srgbClr val="161616"/>
                        </a:solidFill>
                        <a:effectLst/>
                        <a:latin typeface="inherit"/>
                      </a:endParaRPr>
                    </a:p>
                  </a:txBody>
                  <a:tcPr marL="51343" marR="51343" marT="25672" marB="25672" anchor="ctr">
                    <a:lnL>
                      <a:noFill/>
                    </a:lnL>
                    <a:lnR>
                      <a:noFill/>
                    </a:lnR>
                    <a:lnT w="6096" cap="flat" cmpd="sng" algn="ctr">
                      <a:solidFill>
                        <a:srgbClr val="50EE7D"/>
                      </a:solidFill>
                      <a:prstDash val="solid"/>
                      <a:round/>
                      <a:headEnd type="none" w="med" len="med"/>
                      <a:tailEnd type="none" w="med" len="med"/>
                    </a:lnT>
                    <a:lnB w="6096" cap="flat" cmpd="sng" algn="ctr">
                      <a:solidFill>
                        <a:srgbClr val="30F97D"/>
                      </a:solidFill>
                      <a:prstDash val="solid"/>
                      <a:round/>
                      <a:headEnd type="none" w="med" len="med"/>
                      <a:tailEnd type="none" w="med" len="med"/>
                    </a:lnB>
                    <a:solidFill>
                      <a:srgbClr val="FFFFFF"/>
                    </a:solidFill>
                  </a:tcPr>
                </a:tc>
                <a:tc>
                  <a:txBody>
                    <a:bodyPr/>
                    <a:lstStyle/>
                    <a:p>
                      <a:pPr algn="l" fontAlgn="ctr">
                        <a:buNone/>
                      </a:pPr>
                      <a:r>
                        <a:rPr lang="en-US" sz="1400" dirty="0">
                          <a:solidFill>
                            <a:srgbClr val="161616"/>
                          </a:solidFill>
                          <a:effectLst/>
                          <a:latin typeface="inherit"/>
                        </a:rPr>
                        <a:t>Crafts personalized meal plans and grocery lists.</a:t>
                      </a:r>
                    </a:p>
                  </a:txBody>
                  <a:tcPr marL="51343" marR="51343" marT="25672" marB="25672" anchor="ctr">
                    <a:lnL>
                      <a:noFill/>
                    </a:lnL>
                    <a:lnR>
                      <a:noFill/>
                    </a:lnR>
                    <a:lnT w="6096" cap="flat" cmpd="sng" algn="ctr">
                      <a:solidFill>
                        <a:srgbClr val="10E97D"/>
                      </a:solidFill>
                      <a:prstDash val="solid"/>
                      <a:round/>
                      <a:headEnd type="none" w="med" len="med"/>
                      <a:tailEnd type="none" w="med" len="med"/>
                    </a:lnT>
                    <a:lnB w="6096" cap="flat" cmpd="sng" algn="ctr">
                      <a:solidFill>
                        <a:srgbClr val="10FE7D"/>
                      </a:solidFill>
                      <a:prstDash val="solid"/>
                      <a:round/>
                      <a:headEnd type="none" w="med" len="med"/>
                      <a:tailEnd type="none" w="med" len="med"/>
                    </a:lnB>
                    <a:solidFill>
                      <a:srgbClr val="FFFFFF"/>
                    </a:solidFill>
                  </a:tcPr>
                </a:tc>
                <a:tc>
                  <a:txBody>
                    <a:bodyPr/>
                    <a:lstStyle/>
                    <a:p>
                      <a:pPr algn="l" fontAlgn="ctr">
                        <a:buNone/>
                      </a:pPr>
                      <a:r>
                        <a:rPr lang="en-US" sz="1400" dirty="0">
                          <a:solidFill>
                            <a:srgbClr val="161616"/>
                          </a:solidFill>
                          <a:effectLst/>
                          <a:latin typeface="inherit"/>
                        </a:rPr>
                        <a:t>Takes the user profile, applies constraint‑solving logic, and generates natural‑language recipes.</a:t>
                      </a:r>
                    </a:p>
                  </a:txBody>
                  <a:tcPr marL="51343" marR="51343" marT="25672" marB="25672" anchor="ctr">
                    <a:lnL>
                      <a:noFill/>
                    </a:lnL>
                    <a:lnR>
                      <a:noFill/>
                    </a:lnR>
                    <a:lnT w="6096" cap="flat" cmpd="sng" algn="ctr">
                      <a:solidFill>
                        <a:srgbClr val="30F97D"/>
                      </a:solidFill>
                      <a:prstDash val="solid"/>
                      <a:round/>
                      <a:headEnd type="none" w="med" len="med"/>
                      <a:tailEnd type="none" w="med" len="med"/>
                    </a:lnT>
                    <a:lnB w="6096" cap="flat" cmpd="sng" algn="ctr">
                      <a:solidFill>
                        <a:srgbClr val="30F97D"/>
                      </a:solidFill>
                      <a:prstDash val="solid"/>
                      <a:round/>
                      <a:headEnd type="none" w="med" len="med"/>
                      <a:tailEnd type="none" w="med" len="med"/>
                    </a:lnB>
                    <a:solidFill>
                      <a:srgbClr val="FFFFFF"/>
                    </a:solidFill>
                  </a:tcPr>
                </a:tc>
                <a:extLst>
                  <a:ext uri="{0D108BD9-81ED-4DB2-BD59-A6C34878D82A}">
                    <a16:rowId xmlns:a16="http://schemas.microsoft.com/office/drawing/2014/main" val="1200674788"/>
                  </a:ext>
                </a:extLst>
              </a:tr>
              <a:tr h="1179879">
                <a:tc>
                  <a:txBody>
                    <a:bodyPr/>
                    <a:lstStyle/>
                    <a:p>
                      <a:pPr algn="l" fontAlgn="ctr">
                        <a:buNone/>
                      </a:pPr>
                      <a:r>
                        <a:rPr lang="en-US" sz="1400" b="1">
                          <a:solidFill>
                            <a:srgbClr val="161616"/>
                          </a:solidFill>
                          <a:effectLst/>
                          <a:latin typeface="inherit"/>
                        </a:rPr>
                        <a:t>Health Advisory Agent</a:t>
                      </a:r>
                      <a:endParaRPr lang="en-US" sz="1400">
                        <a:solidFill>
                          <a:srgbClr val="161616"/>
                        </a:solidFill>
                        <a:effectLst/>
                        <a:latin typeface="inherit"/>
                      </a:endParaRPr>
                    </a:p>
                  </a:txBody>
                  <a:tcPr marL="51343" marR="51343" marT="25672" marB="25672" anchor="ctr">
                    <a:lnL>
                      <a:noFill/>
                    </a:lnL>
                    <a:lnR>
                      <a:noFill/>
                    </a:lnR>
                    <a:lnT w="6096" cap="flat" cmpd="sng" algn="ctr">
                      <a:solidFill>
                        <a:srgbClr val="30F97D"/>
                      </a:solidFill>
                      <a:prstDash val="solid"/>
                      <a:round/>
                      <a:headEnd type="none" w="med" len="med"/>
                      <a:tailEnd type="none" w="med" len="med"/>
                    </a:lnT>
                    <a:lnB w="6096" cap="flat" cmpd="sng" algn="ctr">
                      <a:solidFill>
                        <a:srgbClr val="90EA7D"/>
                      </a:solidFill>
                      <a:prstDash val="solid"/>
                      <a:round/>
                      <a:headEnd type="none" w="med" len="med"/>
                      <a:tailEnd type="none" w="med" len="med"/>
                    </a:lnB>
                    <a:solidFill>
                      <a:srgbClr val="FFFFFF"/>
                    </a:solidFill>
                  </a:tcPr>
                </a:tc>
                <a:tc>
                  <a:txBody>
                    <a:bodyPr/>
                    <a:lstStyle/>
                    <a:p>
                      <a:pPr algn="l" fontAlgn="ctr">
                        <a:buNone/>
                      </a:pPr>
                      <a:r>
                        <a:rPr lang="en-US" sz="1400" dirty="0">
                          <a:solidFill>
                            <a:srgbClr val="161616"/>
                          </a:solidFill>
                          <a:effectLst/>
                          <a:latin typeface="inherit"/>
                        </a:rPr>
                        <a:t>Provides disease‑specific preventive diet guidance.</a:t>
                      </a:r>
                    </a:p>
                  </a:txBody>
                  <a:tcPr marL="51343" marR="51343" marT="25672" marB="25672" anchor="ctr">
                    <a:lnL>
                      <a:noFill/>
                    </a:lnL>
                    <a:lnR>
                      <a:noFill/>
                    </a:lnR>
                    <a:lnT w="6096" cap="flat" cmpd="sng" algn="ctr">
                      <a:solidFill>
                        <a:srgbClr val="10FE7D"/>
                      </a:solidFill>
                      <a:prstDash val="solid"/>
                      <a:round/>
                      <a:headEnd type="none" w="med" len="med"/>
                      <a:tailEnd type="none" w="med" len="med"/>
                    </a:lnT>
                    <a:lnB w="6096" cap="flat" cmpd="sng" algn="ctr">
                      <a:solidFill>
                        <a:srgbClr val="F0EA7D"/>
                      </a:solidFill>
                      <a:prstDash val="solid"/>
                      <a:round/>
                      <a:headEnd type="none" w="med" len="med"/>
                      <a:tailEnd type="none" w="med" len="med"/>
                    </a:lnB>
                    <a:solidFill>
                      <a:srgbClr val="FFFFFF"/>
                    </a:solidFill>
                  </a:tcPr>
                </a:tc>
                <a:tc>
                  <a:txBody>
                    <a:bodyPr/>
                    <a:lstStyle/>
                    <a:p>
                      <a:pPr algn="l" fontAlgn="ctr">
                        <a:buNone/>
                      </a:pPr>
                      <a:r>
                        <a:rPr lang="en-US" sz="1400" dirty="0">
                          <a:solidFill>
                            <a:srgbClr val="161616"/>
                          </a:solidFill>
                          <a:effectLst/>
                          <a:latin typeface="inherit"/>
                        </a:rPr>
                        <a:t>Interprets medical conditions, maps them to guideline‑based recommendations, and produces actionable tips.</a:t>
                      </a:r>
                    </a:p>
                  </a:txBody>
                  <a:tcPr marL="51343" marR="51343" marT="25672" marB="25672" anchor="ctr">
                    <a:lnL>
                      <a:noFill/>
                    </a:lnL>
                    <a:lnR>
                      <a:noFill/>
                    </a:lnR>
                    <a:lnT w="6096" cap="flat" cmpd="sng" algn="ctr">
                      <a:solidFill>
                        <a:srgbClr val="30F97D"/>
                      </a:solidFill>
                      <a:prstDash val="solid"/>
                      <a:round/>
                      <a:headEnd type="none" w="med" len="med"/>
                      <a:tailEnd type="none" w="med" len="med"/>
                    </a:lnT>
                    <a:lnB w="6096" cap="flat" cmpd="sng" algn="ctr">
                      <a:solidFill>
                        <a:srgbClr val="F0F97D"/>
                      </a:solidFill>
                      <a:prstDash val="solid"/>
                      <a:round/>
                      <a:headEnd type="none" w="med" len="med"/>
                      <a:tailEnd type="none" w="med" len="med"/>
                    </a:lnB>
                    <a:solidFill>
                      <a:srgbClr val="FFFFFF"/>
                    </a:solidFill>
                  </a:tcPr>
                </a:tc>
                <a:extLst>
                  <a:ext uri="{0D108BD9-81ED-4DB2-BD59-A6C34878D82A}">
                    <a16:rowId xmlns:a16="http://schemas.microsoft.com/office/drawing/2014/main" val="2272779637"/>
                  </a:ext>
                </a:extLst>
              </a:tr>
              <a:tr h="1068268">
                <a:tc>
                  <a:txBody>
                    <a:bodyPr/>
                    <a:lstStyle/>
                    <a:p>
                      <a:pPr algn="l" fontAlgn="ctr">
                        <a:buNone/>
                      </a:pPr>
                      <a:r>
                        <a:rPr lang="en-US" sz="1400" b="1">
                          <a:solidFill>
                            <a:srgbClr val="161616"/>
                          </a:solidFill>
                          <a:effectLst/>
                          <a:latin typeface="inherit"/>
                        </a:rPr>
                        <a:t>Food Log &amp; Feedback Agent</a:t>
                      </a:r>
                      <a:endParaRPr lang="en-US" sz="1400">
                        <a:solidFill>
                          <a:srgbClr val="161616"/>
                        </a:solidFill>
                        <a:effectLst/>
                        <a:latin typeface="inherit"/>
                      </a:endParaRPr>
                    </a:p>
                  </a:txBody>
                  <a:tcPr marL="51343" marR="51343" marT="25672" marB="25672" anchor="ctr">
                    <a:lnL>
                      <a:noFill/>
                    </a:lnL>
                    <a:lnR>
                      <a:noFill/>
                    </a:lnR>
                    <a:lnT w="6096" cap="flat" cmpd="sng" algn="ctr">
                      <a:solidFill>
                        <a:srgbClr val="90EA7D"/>
                      </a:solidFill>
                      <a:prstDash val="solid"/>
                      <a:round/>
                      <a:headEnd type="none" w="med" len="med"/>
                      <a:tailEnd type="none" w="med" len="med"/>
                    </a:lnT>
                    <a:lnB w="6096" cap="flat" cmpd="sng" algn="ctr">
                      <a:solidFill>
                        <a:srgbClr val="B0F17D"/>
                      </a:solidFill>
                      <a:prstDash val="solid"/>
                      <a:round/>
                      <a:headEnd type="none" w="med" len="med"/>
                      <a:tailEnd type="none" w="med" len="med"/>
                    </a:lnB>
                    <a:solidFill>
                      <a:srgbClr val="FFFFFF"/>
                    </a:solidFill>
                  </a:tcPr>
                </a:tc>
                <a:tc>
                  <a:txBody>
                    <a:bodyPr/>
                    <a:lstStyle/>
                    <a:p>
                      <a:pPr algn="l" fontAlgn="ctr">
                        <a:buNone/>
                      </a:pPr>
                      <a:r>
                        <a:rPr lang="en-US" sz="1400">
                          <a:solidFill>
                            <a:srgbClr val="161616"/>
                          </a:solidFill>
                          <a:effectLst/>
                          <a:latin typeface="inherit"/>
                        </a:rPr>
                        <a:t>Analyzes logged meals, computes nutrient totals, and gives real‑time feedback.</a:t>
                      </a:r>
                    </a:p>
                  </a:txBody>
                  <a:tcPr marL="51343" marR="51343" marT="25672" marB="25672" anchor="ctr">
                    <a:lnL>
                      <a:noFill/>
                    </a:lnL>
                    <a:lnR>
                      <a:noFill/>
                    </a:lnR>
                    <a:lnT w="6096" cap="flat" cmpd="sng" algn="ctr">
                      <a:solidFill>
                        <a:srgbClr val="F0EA7D"/>
                      </a:solidFill>
                      <a:prstDash val="solid"/>
                      <a:round/>
                      <a:headEnd type="none" w="med" len="med"/>
                      <a:tailEnd type="none" w="med" len="med"/>
                    </a:lnT>
                    <a:lnB w="6096" cap="flat" cmpd="sng" algn="ctr">
                      <a:solidFill>
                        <a:srgbClr val="30F67D"/>
                      </a:solidFill>
                      <a:prstDash val="solid"/>
                      <a:round/>
                      <a:headEnd type="none" w="med" len="med"/>
                      <a:tailEnd type="none" w="med" len="med"/>
                    </a:lnB>
                    <a:solidFill>
                      <a:srgbClr val="FFFFFF"/>
                    </a:solidFill>
                  </a:tcPr>
                </a:tc>
                <a:tc>
                  <a:txBody>
                    <a:bodyPr/>
                    <a:lstStyle/>
                    <a:p>
                      <a:pPr algn="l" fontAlgn="ctr">
                        <a:buNone/>
                      </a:pPr>
                      <a:r>
                        <a:rPr lang="en-US" sz="1400" dirty="0">
                          <a:solidFill>
                            <a:srgbClr val="161616"/>
                          </a:solidFill>
                          <a:effectLst/>
                          <a:latin typeface="inherit"/>
                        </a:rPr>
                        <a:t>Combines OCR/image recognition output with the nutrition database; the LLM explains deviations and suggestions.</a:t>
                      </a:r>
                    </a:p>
                  </a:txBody>
                  <a:tcPr marL="51343" marR="51343" marT="25672" marB="25672" anchor="ctr">
                    <a:lnL>
                      <a:noFill/>
                    </a:lnL>
                    <a:lnR>
                      <a:noFill/>
                    </a:lnR>
                    <a:lnT w="6096" cap="flat" cmpd="sng" algn="ctr">
                      <a:solidFill>
                        <a:srgbClr val="F0F97D"/>
                      </a:solidFill>
                      <a:prstDash val="solid"/>
                      <a:round/>
                      <a:headEnd type="none" w="med" len="med"/>
                      <a:tailEnd type="none" w="med" len="med"/>
                    </a:lnT>
                    <a:lnB w="6096" cap="flat" cmpd="sng" algn="ctr">
                      <a:solidFill>
                        <a:srgbClr val="50F47D"/>
                      </a:solidFill>
                      <a:prstDash val="solid"/>
                      <a:round/>
                      <a:headEnd type="none" w="med" len="med"/>
                      <a:tailEnd type="none" w="med" len="med"/>
                    </a:lnB>
                    <a:solidFill>
                      <a:srgbClr val="FFFFFF"/>
                    </a:solidFill>
                  </a:tcPr>
                </a:tc>
                <a:extLst>
                  <a:ext uri="{0D108BD9-81ED-4DB2-BD59-A6C34878D82A}">
                    <a16:rowId xmlns:a16="http://schemas.microsoft.com/office/drawing/2014/main" val="1430443703"/>
                  </a:ext>
                </a:extLst>
              </a:tr>
              <a:tr h="1179879">
                <a:tc>
                  <a:txBody>
                    <a:bodyPr/>
                    <a:lstStyle/>
                    <a:p>
                      <a:pPr algn="l" fontAlgn="ctr">
                        <a:buNone/>
                      </a:pPr>
                      <a:r>
                        <a:rPr lang="en-US" sz="1400" b="1">
                          <a:solidFill>
                            <a:srgbClr val="161616"/>
                          </a:solidFill>
                          <a:effectLst/>
                          <a:latin typeface="inherit"/>
                        </a:rPr>
                        <a:t>Orchestrator (Meta‑Agent)</a:t>
                      </a:r>
                      <a:endParaRPr lang="en-US" sz="1400">
                        <a:solidFill>
                          <a:srgbClr val="161616"/>
                        </a:solidFill>
                        <a:effectLst/>
                        <a:latin typeface="inherit"/>
                      </a:endParaRPr>
                    </a:p>
                  </a:txBody>
                  <a:tcPr marL="51343" marR="51343" marT="25672" marB="25672" anchor="ctr">
                    <a:lnL>
                      <a:noFill/>
                    </a:lnL>
                    <a:lnR>
                      <a:noFill/>
                    </a:lnR>
                    <a:lnT w="6096" cap="flat" cmpd="sng" algn="ctr">
                      <a:solidFill>
                        <a:srgbClr val="B0F17D"/>
                      </a:solidFill>
                      <a:prstDash val="solid"/>
                      <a:round/>
                      <a:headEnd type="none" w="med" len="med"/>
                      <a:tailEnd type="none" w="med" len="med"/>
                    </a:lnT>
                    <a:lnB w="6096" cap="flat" cmpd="sng" algn="ctr">
                      <a:solidFill>
                        <a:srgbClr val="10FE7D"/>
                      </a:solidFill>
                      <a:prstDash val="solid"/>
                      <a:round/>
                      <a:headEnd type="none" w="med" len="med"/>
                      <a:tailEnd type="none" w="med" len="med"/>
                    </a:lnB>
                    <a:solidFill>
                      <a:srgbClr val="E8E8E8"/>
                    </a:solidFill>
                  </a:tcPr>
                </a:tc>
                <a:tc>
                  <a:txBody>
                    <a:bodyPr/>
                    <a:lstStyle/>
                    <a:p>
                      <a:pPr algn="l" fontAlgn="ctr">
                        <a:buNone/>
                      </a:pPr>
                      <a:r>
                        <a:rPr lang="en-US" sz="1400">
                          <a:solidFill>
                            <a:srgbClr val="161616"/>
                          </a:solidFill>
                          <a:effectLst/>
                          <a:latin typeface="inherit"/>
                        </a:rPr>
                        <a:t>Routes user inputs to the appropriate sub‑agent, maintains session context, and merges multi‑modal outputs.</a:t>
                      </a:r>
                    </a:p>
                  </a:txBody>
                  <a:tcPr marL="51343" marR="51343" marT="25672" marB="25672" anchor="ctr">
                    <a:lnL>
                      <a:noFill/>
                    </a:lnL>
                    <a:lnR>
                      <a:noFill/>
                    </a:lnR>
                    <a:lnT w="6096" cap="flat" cmpd="sng" algn="ctr">
                      <a:solidFill>
                        <a:srgbClr val="30F67D"/>
                      </a:solidFill>
                      <a:prstDash val="solid"/>
                      <a:round/>
                      <a:headEnd type="none" w="med" len="med"/>
                      <a:tailEnd type="none" w="med" len="med"/>
                    </a:lnT>
                    <a:lnB w="6096" cap="flat" cmpd="sng" algn="ctr">
                      <a:solidFill>
                        <a:srgbClr val="F0FF7D"/>
                      </a:solidFill>
                      <a:prstDash val="solid"/>
                      <a:round/>
                      <a:headEnd type="none" w="med" len="med"/>
                      <a:tailEnd type="none" w="med" len="med"/>
                    </a:lnB>
                    <a:solidFill>
                      <a:srgbClr val="E8E8E8"/>
                    </a:solidFill>
                  </a:tcPr>
                </a:tc>
                <a:tc>
                  <a:txBody>
                    <a:bodyPr/>
                    <a:lstStyle/>
                    <a:p>
                      <a:pPr algn="l" fontAlgn="ctr">
                        <a:buNone/>
                      </a:pPr>
                      <a:r>
                        <a:rPr lang="en-US" sz="1400" dirty="0">
                          <a:solidFill>
                            <a:srgbClr val="161616"/>
                          </a:solidFill>
                          <a:effectLst/>
                          <a:latin typeface="inherit"/>
                        </a:rPr>
                        <a:t>Ensures seamless hand‑off, tracks state (e.g., current day’s nutrient budget), and resolves conflicts.</a:t>
                      </a:r>
                    </a:p>
                  </a:txBody>
                  <a:tcPr marL="51343" marR="51343" marT="25672" marB="25672" anchor="ctr">
                    <a:lnL>
                      <a:noFill/>
                    </a:lnL>
                    <a:lnR>
                      <a:noFill/>
                    </a:lnR>
                    <a:lnT w="6096" cap="flat" cmpd="sng" algn="ctr">
                      <a:solidFill>
                        <a:srgbClr val="50F47D"/>
                      </a:solidFill>
                      <a:prstDash val="solid"/>
                      <a:round/>
                      <a:headEnd type="none" w="med" len="med"/>
                      <a:tailEnd type="none" w="med" len="med"/>
                    </a:lnT>
                    <a:lnB w="6096" cap="flat" cmpd="sng" algn="ctr">
                      <a:solidFill>
                        <a:srgbClr val="90FC7D"/>
                      </a:solidFill>
                      <a:prstDash val="solid"/>
                      <a:round/>
                      <a:headEnd type="none" w="med" len="med"/>
                      <a:tailEnd type="none" w="med" len="med"/>
                    </a:lnB>
                    <a:solidFill>
                      <a:srgbClr val="E8E8E8"/>
                    </a:solidFill>
                  </a:tcPr>
                </a:tc>
                <a:extLst>
                  <a:ext uri="{0D108BD9-81ED-4DB2-BD59-A6C34878D82A}">
                    <a16:rowId xmlns:a16="http://schemas.microsoft.com/office/drawing/2014/main" val="3761358976"/>
                  </a:ext>
                </a:extLst>
              </a:tr>
            </a:tbl>
          </a:graphicData>
        </a:graphic>
      </p:graphicFrame>
    </p:spTree>
    <p:extLst>
      <p:ext uri="{BB962C8B-B14F-4D97-AF65-F5344CB8AC3E}">
        <p14:creationId xmlns:p14="http://schemas.microsoft.com/office/powerpoint/2010/main" val="3285263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CA6090C0-0478-84F9-6D20-717B6FEB7326}"/>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B64CF172-D2AF-03D8-F919-AA7827A0D969}"/>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err="1">
                <a:sym typeface="Times New Roman"/>
              </a:rPr>
              <a:t>Langflow</a:t>
            </a:r>
            <a:r>
              <a:rPr lang="en-US" sz="3500" b="1" i="0" u="none" strike="noStrike" cap="none">
                <a:solidFill>
                  <a:srgbClr val="051D3A"/>
                </a:solidFill>
                <a:latin typeface="Times New Roman"/>
                <a:ea typeface="Times New Roman"/>
                <a:cs typeface="Times New Roman"/>
                <a:sym typeface="Times New Roman"/>
              </a:rPr>
              <a:t> </a:t>
            </a:r>
            <a:r>
              <a:rPr lang="en-US" sz="2400" b="1">
                <a:sym typeface="Times New Roman"/>
              </a:rPr>
              <a:t>workflow -</a:t>
            </a:r>
            <a:endParaRPr sz="2400" b="1">
              <a:sym typeface="Times New Roman"/>
            </a:endParaRPr>
          </a:p>
        </p:txBody>
      </p:sp>
      <p:pic>
        <p:nvPicPr>
          <p:cNvPr id="4" name="Picture 3" descr="A screenshot of a computer&#10;&#10;AI-generated content may be incorrect.">
            <a:extLst>
              <a:ext uri="{FF2B5EF4-FFF2-40B4-BE49-F238E27FC236}">
                <a16:creationId xmlns:a16="http://schemas.microsoft.com/office/drawing/2014/main" id="{C597681A-DF93-B190-DD21-CBAEDA4E3CBF}"/>
              </a:ext>
            </a:extLst>
          </p:cNvPr>
          <p:cNvPicPr>
            <a:picLocks noChangeAspect="1"/>
          </p:cNvPicPr>
          <p:nvPr/>
        </p:nvPicPr>
        <p:blipFill>
          <a:blip r:embed="rId3"/>
          <a:stretch>
            <a:fillRect/>
          </a:stretch>
        </p:blipFill>
        <p:spPr>
          <a:xfrm>
            <a:off x="535570" y="1139263"/>
            <a:ext cx="11468100" cy="5505450"/>
          </a:xfrm>
          <a:prstGeom prst="rect">
            <a:avLst/>
          </a:prstGeom>
        </p:spPr>
      </p:pic>
    </p:spTree>
    <p:extLst>
      <p:ext uri="{BB962C8B-B14F-4D97-AF65-F5344CB8AC3E}">
        <p14:creationId xmlns:p14="http://schemas.microsoft.com/office/powerpoint/2010/main" val="27725019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2" name="Google Shape;135;p5">
            <a:extLst>
              <a:ext uri="{FF2B5EF4-FFF2-40B4-BE49-F238E27FC236}">
                <a16:creationId xmlns:a16="http://schemas.microsoft.com/office/drawing/2014/main" id="{78578745-3233-E2C4-2AF4-55BA57C68D3F}"/>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lvl="0"/>
            <a:r>
              <a:rPr lang="en-US" sz="2400" b="1">
                <a:solidFill>
                  <a:schemeClr val="dk1"/>
                </a:solidFill>
                <a:latin typeface="Calibri"/>
                <a:ea typeface="Calibri"/>
                <a:cs typeface="Calibri"/>
                <a:sym typeface="Calibri"/>
              </a:rPr>
              <a:t>Architecture blueprint</a:t>
            </a:r>
            <a:endParaRPr lang="en-US" sz="2400"/>
          </a:p>
        </p:txBody>
      </p:sp>
      <p:pic>
        <p:nvPicPr>
          <p:cNvPr id="3" name="Picture 2">
            <a:extLst>
              <a:ext uri="{FF2B5EF4-FFF2-40B4-BE49-F238E27FC236}">
                <a16:creationId xmlns:a16="http://schemas.microsoft.com/office/drawing/2014/main" id="{81932CE2-F219-0CA8-0102-55B8C682B8A2}"/>
              </a:ext>
            </a:extLst>
          </p:cNvPr>
          <p:cNvPicPr>
            <a:picLocks noChangeAspect="1"/>
          </p:cNvPicPr>
          <p:nvPr/>
        </p:nvPicPr>
        <p:blipFill>
          <a:blip r:embed="rId3"/>
          <a:stretch>
            <a:fillRect/>
          </a:stretch>
        </p:blipFill>
        <p:spPr>
          <a:xfrm>
            <a:off x="535570" y="675732"/>
            <a:ext cx="11468100" cy="6181725"/>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sp>
        <p:nvSpPr>
          <p:cNvPr id="2" name="TextBox 1">
            <a:extLst>
              <a:ext uri="{FF2B5EF4-FFF2-40B4-BE49-F238E27FC236}">
                <a16:creationId xmlns:a16="http://schemas.microsoft.com/office/drawing/2014/main" id="{B84A7B44-8B20-5A39-ED43-DA98D0FC7976}"/>
              </a:ext>
            </a:extLst>
          </p:cNvPr>
          <p:cNvSpPr txBox="1"/>
          <p:nvPr/>
        </p:nvSpPr>
        <p:spPr>
          <a:xfrm>
            <a:off x="475488" y="283464"/>
            <a:ext cx="9317736" cy="584775"/>
          </a:xfrm>
          <a:prstGeom prst="rect">
            <a:avLst/>
          </a:prstGeom>
          <a:noFill/>
        </p:spPr>
        <p:txBody>
          <a:bodyPr wrap="square" rtlCol="0">
            <a:spAutoFit/>
          </a:bodyPr>
          <a:lstStyle/>
          <a:p>
            <a:r>
              <a:rPr lang="en-US" sz="3200" b="1" dirty="0"/>
              <a:t>Role of Agentic AI in the solution </a:t>
            </a:r>
            <a:endParaRPr lang="en-IN" sz="3200" b="1" dirty="0"/>
          </a:p>
        </p:txBody>
      </p:sp>
      <p:sp>
        <p:nvSpPr>
          <p:cNvPr id="5" name="TextBox 4">
            <a:extLst>
              <a:ext uri="{FF2B5EF4-FFF2-40B4-BE49-F238E27FC236}">
                <a16:creationId xmlns:a16="http://schemas.microsoft.com/office/drawing/2014/main" id="{6647A4A8-8F5D-0D4C-4E00-C85923217F5A}"/>
              </a:ext>
            </a:extLst>
          </p:cNvPr>
          <p:cNvSpPr txBox="1"/>
          <p:nvPr/>
        </p:nvSpPr>
        <p:spPr>
          <a:xfrm>
            <a:off x="554146" y="1167493"/>
            <a:ext cx="6859377" cy="2800767"/>
          </a:xfrm>
          <a:prstGeom prst="rect">
            <a:avLst/>
          </a:prstGeom>
          <a:noFill/>
        </p:spPr>
        <p:txBody>
          <a:bodyPr wrap="square">
            <a:spAutoFit/>
          </a:bodyPr>
          <a:lstStyle/>
          <a:p>
            <a:r>
              <a:rPr lang="en-US" sz="1600" b="0" i="0" dirty="0" err="1">
                <a:solidFill>
                  <a:srgbClr val="161616"/>
                </a:solidFill>
                <a:effectLst/>
                <a:latin typeface="IBM Plex Sans" panose="020B0503050203000203" pitchFamily="34" charset="0"/>
              </a:rPr>
              <a:t>NutriAI</a:t>
            </a:r>
            <a:r>
              <a:rPr lang="en-US" sz="1600" b="0" i="0" dirty="0">
                <a:solidFill>
                  <a:srgbClr val="161616"/>
                </a:solidFill>
                <a:effectLst/>
                <a:latin typeface="IBM Plex Sans" panose="020B0503050203000203" pitchFamily="34" charset="0"/>
              </a:rPr>
              <a:t> uses an </a:t>
            </a:r>
            <a:r>
              <a:rPr lang="en-US" sz="1600" b="1" i="0" dirty="0">
                <a:solidFill>
                  <a:srgbClr val="161616"/>
                </a:solidFill>
                <a:effectLst/>
                <a:latin typeface="IBM Plex Sans" panose="020B0503050203000203" pitchFamily="34" charset="0"/>
              </a:rPr>
              <a:t>agentic AI architecture</a:t>
            </a:r>
            <a:r>
              <a:rPr lang="en-US" sz="1600" b="0" i="0" dirty="0">
                <a:solidFill>
                  <a:srgbClr val="161616"/>
                </a:solidFill>
                <a:effectLst/>
                <a:latin typeface="IBM Plex Sans" panose="020B0503050203000203" pitchFamily="34" charset="0"/>
              </a:rPr>
              <a:t> where four specialized agents work together under a meta‑orchestrator: the Nutrition Knowledge Agent retrieves verified nutrient data and clinical guidelines via RAG; the Diet Recommendation Agent creates personalized meal plans based on the user’s profile and the retrieved facts; the Health Advisory Agent adds disease‑specific diet advice (e.g., ADA, DASH) and checks for conflicts; and the Food‑Log &amp; Feedback Agent processes text, photo, or voice entries, matches foods to the knowledge base, calculates real‑time nutrient totals, and gives actionable feedback. IBM Orchestrate maintains context, routes intents, and reconciles outputs, giving </a:t>
            </a:r>
            <a:r>
              <a:rPr lang="en-US" sz="1600" b="0" i="0" dirty="0" err="1">
                <a:solidFill>
                  <a:srgbClr val="161616"/>
                </a:solidFill>
                <a:effectLst/>
                <a:latin typeface="IBM Plex Sans" panose="020B0503050203000203" pitchFamily="34" charset="0"/>
              </a:rPr>
              <a:t>NutriAI</a:t>
            </a:r>
            <a:r>
              <a:rPr lang="en-US" sz="1600" b="0" i="0" dirty="0">
                <a:solidFill>
                  <a:srgbClr val="161616"/>
                </a:solidFill>
                <a:effectLst/>
                <a:latin typeface="IBM Plex Sans" panose="020B0503050203000203" pitchFamily="34" charset="0"/>
              </a:rPr>
              <a:t> high accuracy, scalability, and instant, personalized nutrition guidance.</a:t>
            </a:r>
            <a:endParaRPr lang="en-US" sz="1600" dirty="0"/>
          </a:p>
        </p:txBody>
      </p:sp>
      <p:pic>
        <p:nvPicPr>
          <p:cNvPr id="6" name="Picture 5" descr="A robot with headphones on and a neon sign that says ...">
            <a:extLst>
              <a:ext uri="{FF2B5EF4-FFF2-40B4-BE49-F238E27FC236}">
                <a16:creationId xmlns:a16="http://schemas.microsoft.com/office/drawing/2014/main" id="{15B02009-C583-6AF8-149F-C94B08E8CA27}"/>
              </a:ext>
            </a:extLst>
          </p:cNvPr>
          <p:cNvPicPr>
            <a:picLocks noChangeAspect="1"/>
          </p:cNvPicPr>
          <p:nvPr/>
        </p:nvPicPr>
        <p:blipFill>
          <a:blip r:embed="rId3"/>
          <a:stretch>
            <a:fillRect/>
          </a:stretch>
        </p:blipFill>
        <p:spPr>
          <a:xfrm>
            <a:off x="8772912" y="855406"/>
            <a:ext cx="2943600" cy="5147188"/>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55016524-E738-3D8C-3BB2-B0BE7C665318}"/>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D62F03A8-A8A8-CB93-006E-7173DC866F6F}"/>
              </a:ext>
            </a:extLst>
          </p:cNvPr>
          <p:cNvSpPr/>
          <p:nvPr/>
        </p:nvSpPr>
        <p:spPr>
          <a:xfrm>
            <a:off x="793192" y="3415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Token Usage </a:t>
            </a:r>
            <a:endParaRPr sz="2400" b="1">
              <a:sym typeface="Times New Roman"/>
            </a:endParaRPr>
          </a:p>
        </p:txBody>
      </p:sp>
      <p:sp>
        <p:nvSpPr>
          <p:cNvPr id="280" name="Google Shape;280;p18">
            <a:extLst>
              <a:ext uri="{FF2B5EF4-FFF2-40B4-BE49-F238E27FC236}">
                <a16:creationId xmlns:a16="http://schemas.microsoft.com/office/drawing/2014/main" id="{A4423EF4-BB52-2693-03DD-9F7D92D05218}"/>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FF042814-8077-DBD5-E8B6-E0D870CADB86}"/>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6A2761AF-8A54-98F2-52C2-794D9BA61C92}"/>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5" name="TextBox 4">
            <a:extLst>
              <a:ext uri="{FF2B5EF4-FFF2-40B4-BE49-F238E27FC236}">
                <a16:creationId xmlns:a16="http://schemas.microsoft.com/office/drawing/2014/main" id="{1BD576A0-BF64-32B6-1E59-49AA2C59C5CE}"/>
              </a:ext>
            </a:extLst>
          </p:cNvPr>
          <p:cNvSpPr txBox="1"/>
          <p:nvPr/>
        </p:nvSpPr>
        <p:spPr>
          <a:xfrm>
            <a:off x="897392" y="1042133"/>
            <a:ext cx="4371171"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11,761 token are used</a:t>
            </a:r>
          </a:p>
        </p:txBody>
      </p:sp>
      <p:pic>
        <p:nvPicPr>
          <p:cNvPr id="12" name="Picture 11" descr="A screenshot of a computer&#10;&#10;AI-generated content may be incorrect.">
            <a:extLst>
              <a:ext uri="{FF2B5EF4-FFF2-40B4-BE49-F238E27FC236}">
                <a16:creationId xmlns:a16="http://schemas.microsoft.com/office/drawing/2014/main" id="{3E29AF1D-88C4-87E5-74DF-4E97121E06CE}"/>
              </a:ext>
            </a:extLst>
          </p:cNvPr>
          <p:cNvPicPr>
            <a:picLocks noChangeAspect="1"/>
          </p:cNvPicPr>
          <p:nvPr/>
        </p:nvPicPr>
        <p:blipFill>
          <a:blip r:embed="rId3"/>
          <a:stretch>
            <a:fillRect/>
          </a:stretch>
        </p:blipFill>
        <p:spPr>
          <a:xfrm>
            <a:off x="114240" y="2453592"/>
            <a:ext cx="5095875" cy="2857500"/>
          </a:xfrm>
          <a:prstGeom prst="rect">
            <a:avLst/>
          </a:prstGeom>
        </p:spPr>
      </p:pic>
      <p:pic>
        <p:nvPicPr>
          <p:cNvPr id="13" name="Picture 12" descr="A screenshot of a computer&#10;&#10;AI-generated content may be incorrect.">
            <a:extLst>
              <a:ext uri="{FF2B5EF4-FFF2-40B4-BE49-F238E27FC236}">
                <a16:creationId xmlns:a16="http://schemas.microsoft.com/office/drawing/2014/main" id="{C81444F5-0692-DD67-1759-70821E53B029}"/>
              </a:ext>
            </a:extLst>
          </p:cNvPr>
          <p:cNvPicPr>
            <a:picLocks noChangeAspect="1"/>
          </p:cNvPicPr>
          <p:nvPr/>
        </p:nvPicPr>
        <p:blipFill>
          <a:blip r:embed="rId4"/>
          <a:stretch>
            <a:fillRect/>
          </a:stretch>
        </p:blipFill>
        <p:spPr>
          <a:xfrm>
            <a:off x="6159601" y="2451181"/>
            <a:ext cx="5724525" cy="2857500"/>
          </a:xfrm>
          <a:prstGeom prst="rect">
            <a:avLst/>
          </a:prstGeom>
        </p:spPr>
      </p:pic>
      <p:sp>
        <p:nvSpPr>
          <p:cNvPr id="14" name="TextBox 13">
            <a:extLst>
              <a:ext uri="{FF2B5EF4-FFF2-40B4-BE49-F238E27FC236}">
                <a16:creationId xmlns:a16="http://schemas.microsoft.com/office/drawing/2014/main" id="{7B8E599E-5B1D-59CD-4F1D-CEF8D0CA327B}"/>
              </a:ext>
            </a:extLst>
          </p:cNvPr>
          <p:cNvSpPr txBox="1"/>
          <p:nvPr/>
        </p:nvSpPr>
        <p:spPr>
          <a:xfrm>
            <a:off x="1278639" y="1718067"/>
            <a:ext cx="2743199"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u="sng"/>
              <a:t>Before Prompt</a:t>
            </a:r>
          </a:p>
        </p:txBody>
      </p:sp>
      <p:sp>
        <p:nvSpPr>
          <p:cNvPr id="15" name="TextBox 14">
            <a:extLst>
              <a:ext uri="{FF2B5EF4-FFF2-40B4-BE49-F238E27FC236}">
                <a16:creationId xmlns:a16="http://schemas.microsoft.com/office/drawing/2014/main" id="{B22EA981-5113-2D05-C1A2-169306E1D47C}"/>
              </a:ext>
            </a:extLst>
          </p:cNvPr>
          <p:cNvSpPr txBox="1"/>
          <p:nvPr/>
        </p:nvSpPr>
        <p:spPr>
          <a:xfrm>
            <a:off x="7106828" y="1722919"/>
            <a:ext cx="2743199"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u="sng"/>
              <a:t>After the Prompt</a:t>
            </a:r>
          </a:p>
        </p:txBody>
      </p:sp>
    </p:spTree>
    <p:extLst>
      <p:ext uri="{BB962C8B-B14F-4D97-AF65-F5344CB8AC3E}">
        <p14:creationId xmlns:p14="http://schemas.microsoft.com/office/powerpoint/2010/main" val="21154848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A184BA-BCF2-3D7B-30D0-0F3CF30C161B}"/>
              </a:ext>
            </a:extLst>
          </p:cNvPr>
          <p:cNvSpPr txBox="1"/>
          <p:nvPr/>
        </p:nvSpPr>
        <p:spPr>
          <a:xfrm>
            <a:off x="777240" y="484632"/>
            <a:ext cx="7123176" cy="461665"/>
          </a:xfrm>
          <a:prstGeom prst="rect">
            <a:avLst/>
          </a:prstGeom>
          <a:noFill/>
        </p:spPr>
        <p:txBody>
          <a:bodyPr wrap="square" rtlCol="0">
            <a:spAutoFit/>
          </a:bodyPr>
          <a:lstStyle/>
          <a:p>
            <a:r>
              <a:rPr lang="en-US" sz="2400" b="1" dirty="0"/>
              <a:t>Novelty and Uniqueness</a:t>
            </a:r>
            <a:endParaRPr lang="en-IN" sz="2400" b="1" dirty="0"/>
          </a:p>
        </p:txBody>
      </p:sp>
      <p:sp>
        <p:nvSpPr>
          <p:cNvPr id="5" name="TextBox 4">
            <a:extLst>
              <a:ext uri="{FF2B5EF4-FFF2-40B4-BE49-F238E27FC236}">
                <a16:creationId xmlns:a16="http://schemas.microsoft.com/office/drawing/2014/main" id="{2B26A365-4905-4A98-89F2-A5A1C10A9908}"/>
              </a:ext>
            </a:extLst>
          </p:cNvPr>
          <p:cNvSpPr txBox="1"/>
          <p:nvPr/>
        </p:nvSpPr>
        <p:spPr>
          <a:xfrm>
            <a:off x="777240" y="1113446"/>
            <a:ext cx="8858373" cy="3724096"/>
          </a:xfrm>
          <a:prstGeom prst="rect">
            <a:avLst/>
          </a:prstGeom>
          <a:noFill/>
        </p:spPr>
        <p:txBody>
          <a:bodyPr wrap="square">
            <a:spAutoFit/>
          </a:bodyPr>
          <a:lstStyle/>
          <a:p>
            <a:pPr algn="l" fontAlgn="auto">
              <a:spcAft>
                <a:spcPts val="600"/>
              </a:spcAft>
              <a:buFont typeface="+mj-lt"/>
              <a:buAutoNum type="arabicPeriod"/>
            </a:pPr>
            <a:r>
              <a:rPr lang="en-US" b="1" i="0" dirty="0">
                <a:solidFill>
                  <a:srgbClr val="161616"/>
                </a:solidFill>
                <a:effectLst/>
                <a:latin typeface="inherit"/>
              </a:rPr>
              <a:t>Full‑stack multimodal logging</a:t>
            </a:r>
            <a:r>
              <a:rPr lang="en-US" b="0" i="0" dirty="0">
                <a:solidFill>
                  <a:srgbClr val="161616"/>
                </a:solidFill>
                <a:effectLst/>
                <a:latin typeface="inherit"/>
              </a:rPr>
              <a:t> (text + photo + voice) with automatic portion estimation – rare in consumer nutrition apps.</a:t>
            </a:r>
          </a:p>
          <a:p>
            <a:pPr algn="l" fontAlgn="auto">
              <a:spcAft>
                <a:spcPts val="600"/>
              </a:spcAft>
              <a:buFont typeface="+mj-lt"/>
              <a:buAutoNum type="arabicPeriod"/>
            </a:pPr>
            <a:endParaRPr lang="en-US" b="0" i="0" dirty="0">
              <a:solidFill>
                <a:srgbClr val="161616"/>
              </a:solidFill>
              <a:effectLst/>
              <a:latin typeface="inherit"/>
            </a:endParaRPr>
          </a:p>
          <a:p>
            <a:pPr algn="l" fontAlgn="auto">
              <a:spcAft>
                <a:spcPts val="600"/>
              </a:spcAft>
              <a:buFont typeface="+mj-lt"/>
              <a:buAutoNum type="arabicPeriod"/>
            </a:pPr>
            <a:r>
              <a:rPr lang="en-US" b="1" i="0" dirty="0">
                <a:solidFill>
                  <a:srgbClr val="161616"/>
                </a:solidFill>
                <a:effectLst/>
                <a:latin typeface="inherit"/>
              </a:rPr>
              <a:t>Hybrid RAG + Clinical Guideline engine</a:t>
            </a:r>
            <a:r>
              <a:rPr lang="en-US" b="0" i="0" dirty="0">
                <a:solidFill>
                  <a:srgbClr val="161616"/>
                </a:solidFill>
                <a:effectLst/>
                <a:latin typeface="inherit"/>
              </a:rPr>
              <a:t> – guarantees that every fact comes from a vetted source, reducing misinformation.</a:t>
            </a:r>
          </a:p>
          <a:p>
            <a:pPr algn="l" fontAlgn="auto">
              <a:spcAft>
                <a:spcPts val="600"/>
              </a:spcAft>
              <a:buFont typeface="+mj-lt"/>
              <a:buAutoNum type="arabicPeriod"/>
            </a:pPr>
            <a:endParaRPr lang="en-US" b="0" i="0" dirty="0">
              <a:solidFill>
                <a:srgbClr val="161616"/>
              </a:solidFill>
              <a:effectLst/>
              <a:latin typeface="inherit"/>
            </a:endParaRPr>
          </a:p>
          <a:p>
            <a:pPr algn="l" fontAlgn="auto">
              <a:spcAft>
                <a:spcPts val="600"/>
              </a:spcAft>
              <a:buFont typeface="+mj-lt"/>
              <a:buAutoNum type="arabicPeriod"/>
            </a:pPr>
            <a:r>
              <a:rPr lang="en-US" b="1" i="0" dirty="0">
                <a:solidFill>
                  <a:srgbClr val="161616"/>
                </a:solidFill>
                <a:effectLst/>
                <a:latin typeface="inherit"/>
              </a:rPr>
              <a:t>Agentic orchestration</a:t>
            </a:r>
            <a:r>
              <a:rPr lang="en-US" b="0" i="0" dirty="0">
                <a:solidFill>
                  <a:srgbClr val="161616"/>
                </a:solidFill>
                <a:effectLst/>
                <a:latin typeface="inherit"/>
              </a:rPr>
              <a:t> – distinct specialized agents that communicate via IBM Orchestrate, enabling scalability and easy addition of new health modules (e.g., sports‑performance, prenatal nutrition).</a:t>
            </a:r>
          </a:p>
          <a:p>
            <a:pPr algn="l" fontAlgn="auto">
              <a:spcAft>
                <a:spcPts val="600"/>
              </a:spcAft>
              <a:buFont typeface="+mj-lt"/>
              <a:buAutoNum type="arabicPeriod"/>
            </a:pPr>
            <a:endParaRPr lang="en-US" b="0" i="0" dirty="0">
              <a:solidFill>
                <a:srgbClr val="161616"/>
              </a:solidFill>
              <a:effectLst/>
              <a:latin typeface="inherit"/>
            </a:endParaRPr>
          </a:p>
          <a:p>
            <a:pPr algn="l" fontAlgn="auto">
              <a:spcAft>
                <a:spcPts val="600"/>
              </a:spcAft>
              <a:buFont typeface="+mj-lt"/>
              <a:buAutoNum type="arabicPeriod"/>
            </a:pPr>
            <a:r>
              <a:rPr lang="en-US" b="1" i="0" dirty="0">
                <a:solidFill>
                  <a:srgbClr val="161616"/>
                </a:solidFill>
                <a:effectLst/>
                <a:latin typeface="inherit"/>
              </a:rPr>
              <a:t>Cultural &amp; Preference Sensitivity</a:t>
            </a:r>
            <a:r>
              <a:rPr lang="en-US" b="0" i="0" dirty="0">
                <a:solidFill>
                  <a:srgbClr val="161616"/>
                </a:solidFill>
                <a:effectLst/>
                <a:latin typeface="inherit"/>
              </a:rPr>
              <a:t> – the Diet Recommendation Agent incorporates cuisine taxonomy and user‑provided “favorite foods,” producing culturally relevant meal plans.</a:t>
            </a:r>
          </a:p>
          <a:p>
            <a:pPr algn="l" fontAlgn="auto">
              <a:spcAft>
                <a:spcPts val="600"/>
              </a:spcAft>
              <a:buFont typeface="+mj-lt"/>
              <a:buAutoNum type="arabicPeriod"/>
            </a:pPr>
            <a:endParaRPr lang="en-US" b="0" i="0" dirty="0">
              <a:solidFill>
                <a:srgbClr val="161616"/>
              </a:solidFill>
              <a:effectLst/>
              <a:latin typeface="inherit"/>
            </a:endParaRPr>
          </a:p>
          <a:p>
            <a:pPr algn="l" fontAlgn="auto">
              <a:spcAft>
                <a:spcPts val="600"/>
              </a:spcAft>
              <a:buFont typeface="+mj-lt"/>
              <a:buAutoNum type="arabicPeriod"/>
            </a:pPr>
            <a:r>
              <a:rPr lang="en-US" b="1" i="0" dirty="0">
                <a:solidFill>
                  <a:srgbClr val="161616"/>
                </a:solidFill>
                <a:effectLst/>
                <a:latin typeface="inherit"/>
              </a:rPr>
              <a:t>Real‑time preventive health feedback</a:t>
            </a:r>
            <a:r>
              <a:rPr lang="en-US" b="0" i="0" dirty="0">
                <a:solidFill>
                  <a:srgbClr val="161616"/>
                </a:solidFill>
                <a:effectLst/>
                <a:latin typeface="inherit"/>
              </a:rPr>
              <a:t> – not just calorie counting; the system proactively flags diet‑related risk factors for chronic disease management.</a:t>
            </a:r>
          </a:p>
        </p:txBody>
      </p:sp>
    </p:spTree>
    <p:extLst>
      <p:ext uri="{BB962C8B-B14F-4D97-AF65-F5344CB8AC3E}">
        <p14:creationId xmlns:p14="http://schemas.microsoft.com/office/powerpoint/2010/main" val="91796410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7BB3C0CA-2F24-30DF-1D65-4440B864F08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187EEB9C-2E84-113A-3CE6-1507BF5B039F}"/>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Git Hub Link</a:t>
            </a:r>
            <a:endParaRPr sz="2400" b="1">
              <a:sym typeface="Times New Roman"/>
            </a:endParaRPr>
          </a:p>
        </p:txBody>
      </p:sp>
      <p:sp>
        <p:nvSpPr>
          <p:cNvPr id="279" name="Google Shape;279;p18">
            <a:extLst>
              <a:ext uri="{FF2B5EF4-FFF2-40B4-BE49-F238E27FC236}">
                <a16:creationId xmlns:a16="http://schemas.microsoft.com/office/drawing/2014/main" id="{3711AF54-94A6-B837-31EF-9A8C4ECB9AF6}"/>
              </a:ext>
            </a:extLst>
          </p:cNvPr>
          <p:cNvSpPr/>
          <p:nvPr/>
        </p:nvSpPr>
        <p:spPr>
          <a:xfrm>
            <a:off x="1218724" y="1124746"/>
            <a:ext cx="9214580" cy="4277001"/>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endParaRPr lang="en-US" sz="1850" b="0" i="0" u="none" strike="noStrike" cap="none" dirty="0">
              <a:solidFill>
                <a:srgbClr val="2B3541"/>
              </a:solidFill>
              <a:latin typeface="Times New Roman"/>
              <a:ea typeface="Times New Roman"/>
              <a:cs typeface="Times New Roman"/>
              <a:sym typeface="Times New Roman"/>
            </a:endParaRPr>
          </a:p>
          <a:p>
            <a:pPr lvl="0">
              <a:lnSpc>
                <a:spcPct val="162162"/>
              </a:lnSpc>
              <a:buClr>
                <a:srgbClr val="2B3541"/>
              </a:buClr>
              <a:buSzPts val="1850"/>
            </a:pPr>
            <a:r>
              <a:rPr lang="en-US" sz="1850" dirty="0">
                <a:solidFill>
                  <a:srgbClr val="2B3541"/>
                </a:solidFill>
                <a:latin typeface="Times New Roman"/>
                <a:ea typeface="Times New Roman"/>
                <a:cs typeface="Times New Roman"/>
                <a:sym typeface="Times New Roman"/>
              </a:rPr>
              <a:t> </a:t>
            </a:r>
            <a:r>
              <a:rPr lang="en-US" sz="1850" b="1" dirty="0" err="1">
                <a:solidFill>
                  <a:srgbClr val="2B3541"/>
                </a:solidFill>
                <a:latin typeface="Times New Roman"/>
                <a:ea typeface="Times New Roman"/>
                <a:cs typeface="Times New Roman"/>
                <a:sym typeface="Times New Roman"/>
              </a:rPr>
              <a:t>Github</a:t>
            </a:r>
            <a:r>
              <a:rPr lang="en-US" sz="1850" b="1" dirty="0">
                <a:solidFill>
                  <a:srgbClr val="2B3541"/>
                </a:solidFill>
                <a:latin typeface="Times New Roman"/>
                <a:ea typeface="Times New Roman"/>
                <a:cs typeface="Times New Roman"/>
                <a:sym typeface="Times New Roman"/>
              </a:rPr>
              <a:t> URL</a:t>
            </a:r>
            <a:r>
              <a:rPr lang="en-US" sz="1850" dirty="0">
                <a:solidFill>
                  <a:srgbClr val="2B3541"/>
                </a:solidFill>
                <a:latin typeface="Times New Roman"/>
                <a:ea typeface="Times New Roman"/>
                <a:cs typeface="Times New Roman"/>
                <a:sym typeface="Times New Roman"/>
              </a:rPr>
              <a:t> –https://github.com/jangidvasudev03-coder</a:t>
            </a:r>
          </a:p>
          <a:p>
            <a:pPr lvl="0">
              <a:lnSpc>
                <a:spcPct val="162162"/>
              </a:lnSpc>
              <a:buClr>
                <a:srgbClr val="2B3541"/>
              </a:buClr>
              <a:buSzPts val="1850"/>
            </a:pPr>
            <a:endParaRPr lang="en-US" sz="1850" dirty="0">
              <a:solidFill>
                <a:srgbClr val="2B3541"/>
              </a:solidFill>
              <a:latin typeface="Times New Roman"/>
              <a:ea typeface="Times New Roman"/>
              <a:cs typeface="Times New Roman"/>
            </a:endParaRPr>
          </a:p>
          <a:p>
            <a:pPr lvl="0">
              <a:lnSpc>
                <a:spcPct val="162162"/>
              </a:lnSpc>
              <a:buClr>
                <a:srgbClr val="2B3541"/>
              </a:buClr>
              <a:buSzPts val="1850"/>
            </a:pPr>
            <a:r>
              <a:rPr lang="en-US" sz="1850" b="1" dirty="0">
                <a:solidFill>
                  <a:srgbClr val="2B3541"/>
                </a:solidFill>
                <a:latin typeface="Times New Roman"/>
                <a:ea typeface="Times New Roman"/>
                <a:cs typeface="Times New Roman"/>
                <a:sym typeface="Times New Roman"/>
              </a:rPr>
              <a:t> The Files Uploaded on </a:t>
            </a:r>
            <a:r>
              <a:rPr lang="en-US" sz="1850" b="1" dirty="0" err="1">
                <a:solidFill>
                  <a:srgbClr val="2B3541"/>
                </a:solidFill>
                <a:latin typeface="Times New Roman"/>
                <a:ea typeface="Times New Roman"/>
                <a:cs typeface="Times New Roman"/>
                <a:sym typeface="Times New Roman"/>
              </a:rPr>
              <a:t>Github</a:t>
            </a:r>
            <a:r>
              <a:rPr lang="en-US" sz="1850" b="1" dirty="0">
                <a:solidFill>
                  <a:srgbClr val="2B3541"/>
                </a:solidFill>
                <a:latin typeface="Times New Roman"/>
                <a:ea typeface="Times New Roman"/>
                <a:cs typeface="Times New Roman"/>
                <a:sym typeface="Times New Roman"/>
              </a:rPr>
              <a:t> repository  </a:t>
            </a:r>
            <a:br>
              <a:rPr lang="en-US" sz="1850" dirty="0">
                <a:latin typeface="Times New Roman"/>
                <a:ea typeface="Times New Roman"/>
                <a:cs typeface="Times New Roman"/>
              </a:rPr>
            </a:br>
            <a:r>
              <a:rPr lang="en-US" sz="1850" dirty="0">
                <a:solidFill>
                  <a:srgbClr val="2B3541"/>
                </a:solidFill>
                <a:latin typeface="Times New Roman"/>
                <a:ea typeface="Times New Roman"/>
                <a:cs typeface="Times New Roman"/>
                <a:sym typeface="Times New Roman"/>
              </a:rPr>
              <a:t>1) </a:t>
            </a:r>
            <a:r>
              <a:rPr lang="en-US" sz="1850" dirty="0" err="1">
                <a:solidFill>
                  <a:srgbClr val="2B3541"/>
                </a:solidFill>
                <a:latin typeface="Times New Roman"/>
                <a:ea typeface="Times New Roman"/>
                <a:cs typeface="Times New Roman"/>
                <a:sym typeface="Times New Roman"/>
              </a:rPr>
              <a:t>app.json</a:t>
            </a:r>
            <a:r>
              <a:rPr lang="en-US" sz="1850" dirty="0">
                <a:solidFill>
                  <a:srgbClr val="2B3541"/>
                </a:solidFill>
                <a:latin typeface="Times New Roman"/>
                <a:ea typeface="Times New Roman"/>
                <a:cs typeface="Times New Roman"/>
                <a:sym typeface="Times New Roman"/>
              </a:rPr>
              <a:t> file , </a:t>
            </a:r>
          </a:p>
          <a:p>
            <a:pPr lvl="0">
              <a:lnSpc>
                <a:spcPct val="162162"/>
              </a:lnSpc>
              <a:buClr>
                <a:srgbClr val="2B3541"/>
              </a:buClr>
              <a:buSzPts val="1850"/>
            </a:pPr>
            <a:r>
              <a:rPr lang="en-US" sz="1850" dirty="0">
                <a:solidFill>
                  <a:srgbClr val="2B3541"/>
                </a:solidFill>
                <a:latin typeface="Times New Roman"/>
                <a:ea typeface="Times New Roman"/>
                <a:cs typeface="Times New Roman"/>
                <a:sym typeface="Times New Roman"/>
              </a:rPr>
              <a:t>2) yourproblemstatement.pdf file</a:t>
            </a:r>
          </a:p>
          <a:p>
            <a:pPr lvl="0">
              <a:lnSpc>
                <a:spcPct val="162162"/>
              </a:lnSpc>
              <a:buClr>
                <a:srgbClr val="2B3541"/>
              </a:buClr>
              <a:buSzPts val="1850"/>
            </a:pPr>
            <a:r>
              <a:rPr lang="en-US" sz="1850" dirty="0">
                <a:solidFill>
                  <a:srgbClr val="2B3541"/>
                </a:solidFill>
                <a:latin typeface="Times New Roman"/>
                <a:ea typeface="Times New Roman"/>
                <a:cs typeface="Times New Roman"/>
                <a:sym typeface="Times New Roman"/>
              </a:rPr>
              <a:t>3) your projectpresntation.pptx file</a:t>
            </a:r>
          </a:p>
          <a:p>
            <a:pPr lvl="0">
              <a:lnSpc>
                <a:spcPct val="162162"/>
              </a:lnSpc>
              <a:buClr>
                <a:srgbClr val="2B3541"/>
              </a:buClr>
              <a:buSzPts val="1850"/>
            </a:pPr>
            <a:r>
              <a:rPr lang="en-US" sz="1850" dirty="0">
                <a:solidFill>
                  <a:srgbClr val="2B3541"/>
                </a:solidFill>
                <a:latin typeface="Times New Roman"/>
                <a:ea typeface="Times New Roman"/>
                <a:cs typeface="Times New Roman"/>
                <a:sym typeface="Times New Roman"/>
              </a:rPr>
              <a:t>4)any other files </a:t>
            </a:r>
            <a:endParaRPr lang="en-US" sz="1850" dirty="0">
              <a:solidFill>
                <a:srgbClr val="2B3541"/>
              </a:solidFill>
              <a:latin typeface="Times New Roman"/>
              <a:ea typeface="Times New Roman"/>
              <a:cs typeface="Times New Roman"/>
            </a:endParaRPr>
          </a:p>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dirty="0">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6058519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0668C6FD-577A-7288-5642-1AFC22BD04F2}"/>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dirty="0">
                <a:sym typeface="Times New Roman"/>
              </a:rPr>
              <a:t>Future Scope </a:t>
            </a:r>
            <a:endParaRPr sz="2400" b="1" dirty="0">
              <a:sym typeface="Times New Roman"/>
            </a:endParaRPr>
          </a:p>
        </p:txBody>
      </p:sp>
      <p:sp>
        <p:nvSpPr>
          <p:cNvPr id="279" name="Google Shape;279;p18">
            <a:extLst>
              <a:ext uri="{FF2B5EF4-FFF2-40B4-BE49-F238E27FC236}">
                <a16:creationId xmlns:a16="http://schemas.microsoft.com/office/drawing/2014/main" id="{EAFA16CB-0A72-5AC5-69A0-ABF4A752B43F}"/>
              </a:ext>
            </a:extLst>
          </p:cNvPr>
          <p:cNvSpPr/>
          <p:nvPr/>
        </p:nvSpPr>
        <p:spPr>
          <a:xfrm>
            <a:off x="1218724" y="1221715"/>
            <a:ext cx="9214580" cy="4277001"/>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1" i="0" u="none" strike="noStrike" cap="none" dirty="0">
                <a:solidFill>
                  <a:srgbClr val="2B3541"/>
                </a:solidFill>
                <a:latin typeface="Times New Roman"/>
                <a:ea typeface="Times New Roman"/>
                <a:cs typeface="Times New Roman"/>
                <a:sym typeface="Times New Roman"/>
              </a:rPr>
              <a:t>1.Integration with Wearables &amp; Health Devices – </a:t>
            </a:r>
          </a:p>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The system can be integrated with smartwatches and fitness trackers to collect real-time data such as steps, calories burned, heart rate, and sleep patterns. This will enable the Nutrition Agent to provide more accurate and dynamic diet recommendations based on actual user activity and health metrics.</a:t>
            </a:r>
          </a:p>
          <a:p>
            <a:pPr marL="0" marR="0" lvl="0" indent="0" algn="l" rtl="0">
              <a:lnSpc>
                <a:spcPct val="162162"/>
              </a:lnSpc>
              <a:spcBef>
                <a:spcPts val="0"/>
              </a:spcBef>
              <a:spcAft>
                <a:spcPts val="0"/>
              </a:spcAft>
              <a:buClr>
                <a:srgbClr val="2B3541"/>
              </a:buClr>
              <a:buSzPts val="1850"/>
              <a:buFont typeface="Times New Roman"/>
              <a:buNone/>
            </a:pPr>
            <a:r>
              <a:rPr lang="en-US" sz="1850" b="1" dirty="0">
                <a:solidFill>
                  <a:srgbClr val="2B3541"/>
                </a:solidFill>
                <a:latin typeface="Times New Roman"/>
                <a:ea typeface="Times New Roman"/>
                <a:cs typeface="Times New Roman"/>
                <a:sym typeface="Times New Roman"/>
              </a:rPr>
              <a:t>2.</a:t>
            </a:r>
            <a:r>
              <a:rPr lang="en-US" sz="1850" b="1" i="0" u="none" strike="noStrike" cap="none" dirty="0">
                <a:solidFill>
                  <a:srgbClr val="2B3541"/>
                </a:solidFill>
                <a:latin typeface="Times New Roman"/>
                <a:ea typeface="Times New Roman"/>
                <a:cs typeface="Times New Roman"/>
                <a:sym typeface="Times New Roman"/>
              </a:rPr>
              <a:t>AI-Powered Voice Assistant &amp; Multilingual Support </a:t>
            </a:r>
            <a:r>
              <a:rPr lang="en-US" sz="1850" b="0" i="0" u="none" strike="noStrike" cap="none" dirty="0">
                <a:solidFill>
                  <a:srgbClr val="2B3541"/>
                </a:solidFill>
                <a:latin typeface="Times New Roman"/>
                <a:ea typeface="Times New Roman"/>
                <a:cs typeface="Times New Roman"/>
                <a:sym typeface="Times New Roman"/>
              </a:rPr>
              <a:t>– </a:t>
            </a:r>
          </a:p>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Enhancing the system with a voice-enabled assistant and support for multiple languages will improve accessibility. Users can interact naturally in their preferred language, making the solution more inclusive and suitable for diverse populations, especially in regions with varied linguistic backgrounds.</a:t>
            </a:r>
            <a:endParaRPr sz="1850" b="0" i="0" u="none" strike="noStrike" cap="none" dirty="0">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B888011B-E4AC-77DB-4A60-BE2C891C49F5}"/>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91F05971-9256-10B5-6575-4E7C679C6DAA}"/>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1C3EBC2-438F-C150-9ABF-F14321C2CC5C}"/>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13670672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F1C7BCA-5DD7-F4D3-A937-D1C56976DA01}"/>
              </a:ext>
            </a:extLst>
          </p:cNvPr>
          <p:cNvSpPr txBox="1"/>
          <p:nvPr/>
        </p:nvSpPr>
        <p:spPr>
          <a:xfrm>
            <a:off x="327949" y="207380"/>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t>Certificates Earned:</a:t>
            </a:r>
          </a:p>
          <a:p>
            <a:pPr algn="ctr"/>
            <a:endParaRPr lang="en-US"/>
          </a:p>
        </p:txBody>
      </p:sp>
      <p:sp>
        <p:nvSpPr>
          <p:cNvPr id="3" name="TextBox 2">
            <a:extLst>
              <a:ext uri="{FF2B5EF4-FFF2-40B4-BE49-F238E27FC236}">
                <a16:creationId xmlns:a16="http://schemas.microsoft.com/office/drawing/2014/main" id="{4837D5EE-379B-FDC5-0854-8AC81D31FADF}"/>
              </a:ext>
            </a:extLst>
          </p:cNvPr>
          <p:cNvSpPr txBox="1"/>
          <p:nvPr/>
        </p:nvSpPr>
        <p:spPr>
          <a:xfrm>
            <a:off x="552048" y="690061"/>
            <a:ext cx="6389965"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800" b="1"/>
              <a:t>Please  add your credly certificate </a:t>
            </a:r>
          </a:p>
        </p:txBody>
      </p:sp>
      <p:pic>
        <p:nvPicPr>
          <p:cNvPr id="5" name="Picture 4">
            <a:extLst>
              <a:ext uri="{FF2B5EF4-FFF2-40B4-BE49-F238E27FC236}">
                <a16:creationId xmlns:a16="http://schemas.microsoft.com/office/drawing/2014/main" id="{6E4FEF9A-7326-5DD2-2BD5-2DFBB1984607}"/>
              </a:ext>
            </a:extLst>
          </p:cNvPr>
          <p:cNvPicPr>
            <a:picLocks noChangeAspect="1"/>
          </p:cNvPicPr>
          <p:nvPr/>
        </p:nvPicPr>
        <p:blipFill>
          <a:blip r:embed="rId2"/>
          <a:stretch>
            <a:fillRect/>
          </a:stretch>
        </p:blipFill>
        <p:spPr>
          <a:xfrm>
            <a:off x="2514866" y="1321784"/>
            <a:ext cx="6894605" cy="5328836"/>
          </a:xfrm>
          <a:prstGeom prst="rect">
            <a:avLst/>
          </a:prstGeom>
        </p:spPr>
      </p:pic>
    </p:spTree>
    <p:extLst>
      <p:ext uri="{BB962C8B-B14F-4D97-AF65-F5344CB8AC3E}">
        <p14:creationId xmlns:p14="http://schemas.microsoft.com/office/powerpoint/2010/main" val="122904765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A8544A9-CF92-3FAF-D3EE-31DF90F7A64D}"/>
              </a:ext>
            </a:extLst>
          </p:cNvPr>
          <p:cNvSpPr txBox="1"/>
          <p:nvPr/>
        </p:nvSpPr>
        <p:spPr>
          <a:xfrm>
            <a:off x="176696" y="226391"/>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i="0" u="none" strike="noStrike" baseline="0">
                <a:solidFill>
                  <a:srgbClr val="000000"/>
                </a:solidFill>
                <a:latin typeface="Arial"/>
              </a:rPr>
              <a:t>Certificates Earned:</a:t>
            </a:r>
            <a:r>
              <a:rPr sz="2400" b="0" i="0">
                <a:solidFill>
                  <a:srgbClr val="000000"/>
                </a:solidFill>
                <a:latin typeface="Arial"/>
                <a:ea typeface="Arial"/>
                <a:cs typeface="Arial"/>
              </a:rPr>
              <a:t>​</a:t>
            </a:r>
            <a:endParaRPr lang="en-US"/>
          </a:p>
          <a:p>
            <a:pPr algn="ctr"/>
            <a:endParaRPr lang="en-US"/>
          </a:p>
        </p:txBody>
      </p:sp>
      <p:sp>
        <p:nvSpPr>
          <p:cNvPr id="6" name="TextBox 5">
            <a:extLst>
              <a:ext uri="{FF2B5EF4-FFF2-40B4-BE49-F238E27FC236}">
                <a16:creationId xmlns:a16="http://schemas.microsoft.com/office/drawing/2014/main" id="{C0D36B1A-26C2-CD55-1032-4CB5E4EDF305}"/>
              </a:ext>
            </a:extLst>
          </p:cNvPr>
          <p:cNvSpPr txBox="1"/>
          <p:nvPr/>
        </p:nvSpPr>
        <p:spPr>
          <a:xfrm>
            <a:off x="496843" y="800470"/>
            <a:ext cx="5437681"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a:t>Add your IBM BOB Certificate</a:t>
            </a:r>
          </a:p>
        </p:txBody>
      </p:sp>
      <p:pic>
        <p:nvPicPr>
          <p:cNvPr id="3" name="Picture 2">
            <a:extLst>
              <a:ext uri="{FF2B5EF4-FFF2-40B4-BE49-F238E27FC236}">
                <a16:creationId xmlns:a16="http://schemas.microsoft.com/office/drawing/2014/main" id="{0B48BE9C-B4A3-558E-8C2C-08FEE0D73DDC}"/>
              </a:ext>
            </a:extLst>
          </p:cNvPr>
          <p:cNvPicPr>
            <a:picLocks noChangeAspect="1"/>
          </p:cNvPicPr>
          <p:nvPr/>
        </p:nvPicPr>
        <p:blipFill>
          <a:blip r:embed="rId2"/>
          <a:stretch>
            <a:fillRect/>
          </a:stretch>
        </p:blipFill>
        <p:spPr>
          <a:xfrm>
            <a:off x="2069227" y="1273979"/>
            <a:ext cx="8803615" cy="5357629"/>
          </a:xfrm>
          <a:prstGeom prst="rect">
            <a:avLst/>
          </a:prstGeom>
        </p:spPr>
      </p:pic>
    </p:spTree>
    <p:extLst>
      <p:ext uri="{BB962C8B-B14F-4D97-AF65-F5344CB8AC3E}">
        <p14:creationId xmlns:p14="http://schemas.microsoft.com/office/powerpoint/2010/main" val="250661074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60</TotalTime>
  <Words>1382</Words>
  <Application>Microsoft Office PowerPoint</Application>
  <PresentationFormat>Widescreen</PresentationFormat>
  <Paragraphs>124</Paragraphs>
  <Slides>16</Slides>
  <Notes>13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16</vt:i4>
      </vt:variant>
    </vt:vector>
  </HeadingPairs>
  <TitlesOfParts>
    <vt:vector size="22" baseType="lpstr">
      <vt:lpstr>Arial</vt:lpstr>
      <vt:lpstr>Calibri</vt:lpstr>
      <vt:lpstr>IBM Plex Sans</vt:lpstr>
      <vt:lpstr>inherit</vt:lpstr>
      <vt:lpstr>Times New Roman</vt:lpstr>
      <vt:lpstr>Office Theme</vt:lpstr>
      <vt:lpstr>IBM University Engagement Project Submission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Manmohan Jangid</cp:lastModifiedBy>
  <cp:revision>17</cp:revision>
  <dcterms:created xsi:type="dcterms:W3CDTF">2025-07-08T05:06:56Z</dcterms:created>
  <dcterms:modified xsi:type="dcterms:W3CDTF">2026-06-27T04:20:31Z</dcterms:modified>
</cp:coreProperties>
</file>