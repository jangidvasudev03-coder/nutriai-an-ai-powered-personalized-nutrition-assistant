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8100640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VASUDEV JANGID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jangidvasudev03@gmail.com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9021828637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US" sz="1800" b="1" dirty="0">
                <a:highlight>
                  <a:srgbClr val="FFFF00"/>
                </a:highlight>
              </a:rPr>
              <a:t>Digital Health &amp; Nutrition </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1800" b="1" dirty="0" err="1">
                <a:highlight>
                  <a:srgbClr val="FFFF00"/>
                </a:highlight>
              </a:rPr>
              <a:t>NutriAI</a:t>
            </a:r>
            <a:r>
              <a:rPr lang="en-US" sz="1800" b="1" dirty="0">
                <a:highlight>
                  <a:srgbClr val="FFFF00"/>
                </a:highlight>
              </a:rPr>
              <a:t> – An AI‑Powered Personalized Nutrition Assistant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D908B3CF-50A0-CFF1-1866-55968FCC9795}"/>
              </a:ext>
            </a:extLst>
          </p:cNvPr>
          <p:cNvPicPr>
            <a:picLocks noChangeAspect="1"/>
          </p:cNvPicPr>
          <p:nvPr/>
        </p:nvPicPr>
        <p:blipFill>
          <a:blip r:embed="rId3"/>
          <a:stretch>
            <a:fillRect/>
          </a:stretch>
        </p:blipFill>
        <p:spPr>
          <a:xfrm>
            <a:off x="4138920" y="3683879"/>
            <a:ext cx="760264" cy="9774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460582"/>
            <a:ext cx="10298405" cy="3108543"/>
          </a:xfrm>
          <a:prstGeom prst="rect">
            <a:avLst/>
          </a:prstGeom>
          <a:noFill/>
        </p:spPr>
        <p:txBody>
          <a:bodyPr wrap="square" rtlCol="0">
            <a:spAutoFit/>
          </a:bodyPr>
          <a:lstStyle/>
          <a:p>
            <a:pPr fontAlgn="auto"/>
            <a:r>
              <a:rPr lang="en-US" b="1" dirty="0"/>
              <a:t>Fragmented information</a:t>
            </a:r>
            <a:r>
              <a:rPr lang="en-US" dirty="0"/>
              <a:t> – Reliable nutrition data (calories, macro‑/micronutrients, disease‑specific recommendations) is scattered across many websites, making it hard for users to find trustworthy facts.</a:t>
            </a:r>
          </a:p>
          <a:p>
            <a:pPr fontAlgn="auto"/>
            <a:endParaRPr lang="en-US" dirty="0"/>
          </a:p>
          <a:p>
            <a:pPr fontAlgn="auto"/>
            <a:r>
              <a:rPr lang="en-US" b="1" dirty="0"/>
              <a:t>Lack of personalization</a:t>
            </a:r>
            <a:r>
              <a:rPr lang="en-US" dirty="0"/>
              <a:t> – Generic diet plans ignore age, medical conditions, allergies, cultural food preferences, and individual fitness goals.</a:t>
            </a:r>
          </a:p>
          <a:p>
            <a:pPr fontAlgn="auto"/>
            <a:endParaRPr lang="en-US" dirty="0"/>
          </a:p>
          <a:p>
            <a:pPr fontAlgn="auto"/>
            <a:r>
              <a:rPr lang="en-US" b="1" dirty="0"/>
              <a:t>Difficulty in tracking</a:t>
            </a:r>
            <a:r>
              <a:rPr lang="en-US" dirty="0"/>
              <a:t> – Manual food journaling is time‑consuming; users cannot quickly see how a meal fits into their daily nutrient targets.</a:t>
            </a:r>
          </a:p>
          <a:p>
            <a:pPr fontAlgn="auto"/>
            <a:endParaRPr lang="en-US" dirty="0"/>
          </a:p>
          <a:p>
            <a:pPr fontAlgn="auto"/>
            <a:r>
              <a:rPr lang="en-US" b="1" dirty="0"/>
              <a:t>Preventive nutrition gap</a:t>
            </a:r>
            <a:r>
              <a:rPr lang="en-US" dirty="0"/>
              <a:t> – People with chronic conditions (diabetes, hypertension, cardiovascular disease) need diet guidance that aligns with medical recommendations, but few tools provide clinically‑vetted, real‑time advice.</a:t>
            </a:r>
          </a:p>
          <a:p>
            <a:pPr fontAlgn="base"/>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1" y="310797"/>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6" name="TextBox 5">
            <a:extLst>
              <a:ext uri="{FF2B5EF4-FFF2-40B4-BE49-F238E27FC236}">
                <a16:creationId xmlns:a16="http://schemas.microsoft.com/office/drawing/2014/main" id="{61BB7726-037D-702E-9CF1-6D70243E2F1D}"/>
              </a:ext>
            </a:extLst>
          </p:cNvPr>
          <p:cNvSpPr txBox="1"/>
          <p:nvPr/>
        </p:nvSpPr>
        <p:spPr>
          <a:xfrm>
            <a:off x="576071" y="776392"/>
            <a:ext cx="11039857" cy="5770811"/>
          </a:xfrm>
          <a:prstGeom prst="rect">
            <a:avLst/>
          </a:prstGeom>
          <a:noFill/>
        </p:spPr>
        <p:txBody>
          <a:bodyPr wrap="square">
            <a:spAutoFit/>
          </a:bodyPr>
          <a:lstStyle/>
          <a:p>
            <a:pPr algn="l" fontAlgn="auto">
              <a:spcAft>
                <a:spcPts val="1200"/>
              </a:spcAft>
              <a:buNone/>
            </a:pPr>
            <a:r>
              <a:rPr lang="en-US" b="0" i="0" dirty="0">
                <a:solidFill>
                  <a:srgbClr val="161616"/>
                </a:solidFill>
                <a:effectLst/>
                <a:latin typeface="IBM Plex Sans" panose="020B0503050203000203" pitchFamily="34" charset="0"/>
              </a:rPr>
              <a:t>A </a:t>
            </a:r>
            <a:r>
              <a:rPr lang="en-US" b="1" i="0" dirty="0">
                <a:solidFill>
                  <a:srgbClr val="161616"/>
                </a:solidFill>
                <a:effectLst/>
                <a:latin typeface="inherit"/>
              </a:rPr>
              <a:t>modular, multi‑agent AI platform (</a:t>
            </a:r>
            <a:r>
              <a:rPr lang="en-US" b="1" i="0" dirty="0" err="1">
                <a:solidFill>
                  <a:srgbClr val="161616"/>
                </a:solidFill>
                <a:effectLst/>
                <a:latin typeface="inherit"/>
              </a:rPr>
              <a:t>NutriAI</a:t>
            </a:r>
            <a:r>
              <a:rPr lang="en-US" b="1" i="0" dirty="0">
                <a:solidFill>
                  <a:srgbClr val="161616"/>
                </a:solidFill>
                <a:effectLst/>
                <a:latin typeface="inherit"/>
              </a:rPr>
              <a:t>)</a:t>
            </a:r>
            <a:r>
              <a:rPr lang="en-US" b="0" i="0" dirty="0">
                <a:solidFill>
                  <a:srgbClr val="161616"/>
                </a:solidFill>
                <a:effectLst/>
                <a:latin typeface="IBM Plex Sans" panose="020B0503050203000203" pitchFamily="34" charset="0"/>
              </a:rPr>
              <a:t> that:</a:t>
            </a:r>
          </a:p>
          <a:p>
            <a:pPr algn="l" fontAlgn="auto">
              <a:spcAft>
                <a:spcPts val="600"/>
              </a:spcAft>
              <a:buFont typeface="+mj-lt"/>
              <a:buAutoNum type="arabicPeriod"/>
            </a:pPr>
            <a:r>
              <a:rPr lang="en-US" b="1" i="0" dirty="0">
                <a:solidFill>
                  <a:srgbClr val="161616"/>
                </a:solidFill>
                <a:effectLst/>
                <a:latin typeface="inherit"/>
              </a:rPr>
              <a:t>Collects user profile</a:t>
            </a:r>
            <a:r>
              <a:rPr lang="en-US" b="0" i="0" dirty="0">
                <a:solidFill>
                  <a:srgbClr val="161616"/>
                </a:solidFill>
                <a:effectLst/>
                <a:latin typeface="inherit"/>
              </a:rPr>
              <a:t> – age, gender, weight, height, activity level, health conditions, allergies, cultural/culinary preferences, and specific goals (weight loss, muscle gain, disease management).</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Generates personalized meal plans</a:t>
            </a:r>
            <a:r>
              <a:rPr lang="en-US" b="0" i="0" dirty="0">
                <a:solidFill>
                  <a:srgbClr val="161616"/>
                </a:solidFill>
                <a:effectLst/>
                <a:latin typeface="inherit"/>
              </a:rPr>
              <a:t> – daily/weekly menus with recipes, portion sizes, and grocery lists, respecting the user’s constraints.</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Retrieves verified nutrition facts</a:t>
            </a:r>
            <a:r>
              <a:rPr lang="en-US" b="0" i="0" dirty="0">
                <a:solidFill>
                  <a:srgbClr val="161616"/>
                </a:solidFill>
                <a:effectLst/>
                <a:latin typeface="inherit"/>
              </a:rPr>
              <a:t> – via a Retrieval‑Augmented Generation (RAG) pipeline that pulls data from USDA </a:t>
            </a:r>
            <a:r>
              <a:rPr lang="en-US" b="0" i="0" dirty="0" err="1">
                <a:solidFill>
                  <a:srgbClr val="161616"/>
                </a:solidFill>
                <a:effectLst/>
                <a:latin typeface="inherit"/>
              </a:rPr>
              <a:t>FoodData</a:t>
            </a:r>
            <a:r>
              <a:rPr lang="en-US" b="0" i="0" dirty="0">
                <a:solidFill>
                  <a:srgbClr val="161616"/>
                </a:solidFill>
                <a:effectLst/>
                <a:latin typeface="inherit"/>
              </a:rPr>
              <a:t> Central, EFSA, peer‑reviewed journals, and accredited clinical guidelines.</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Enables multimodal food logging</a:t>
            </a:r>
            <a:r>
              <a:rPr lang="en-US" b="0" i="0" dirty="0">
                <a:solidFill>
                  <a:srgbClr val="161616"/>
                </a:solidFill>
                <a:effectLst/>
                <a:latin typeface="inherit"/>
              </a:rPr>
              <a:t> – users can type, upload a photo, or speak a description; the system uses OCR &amp; image‑recognition models to identify foods, estimate portions, and compute calories/macros/micronutrients.</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Provides instant feedback</a:t>
            </a:r>
            <a:r>
              <a:rPr lang="en-US" b="0" i="0" dirty="0">
                <a:solidFill>
                  <a:srgbClr val="161616"/>
                </a:solidFill>
                <a:effectLst/>
                <a:latin typeface="inherit"/>
              </a:rPr>
              <a:t> – compares logged intake against personalized targets, flags excesses/deficiencies, and suggests corrective actions (e.g., “Add a serving of leafy greens to reach your vitamin K goal”).</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Delivers preventive health advice</a:t>
            </a:r>
            <a:r>
              <a:rPr lang="en-US" b="0" i="0" dirty="0">
                <a:solidFill>
                  <a:srgbClr val="161616"/>
                </a:solidFill>
                <a:effectLst/>
                <a:latin typeface="inherit"/>
              </a:rPr>
              <a:t> – tailored diet suggestions for diabetes, hypertension, dyslipidemia, gut health, etc., grounded in clinical guidelines (ADA, AHA, DASH, Mediterranean diet).</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Visual Dashboard</a:t>
            </a:r>
            <a:r>
              <a:rPr lang="en-US" b="0" i="0" dirty="0">
                <a:solidFill>
                  <a:srgbClr val="161616"/>
                </a:solidFill>
                <a:effectLst/>
                <a:latin typeface="inherit"/>
              </a:rPr>
              <a:t> – interactive charts (daily/weekly nutrient distribution, trend lines for weight/BMI, compliance score) and alerts for upcoming deficiencies.</a:t>
            </a:r>
          </a:p>
          <a:p>
            <a:pPr algn="l" fontAlgn="auto">
              <a:spcAft>
                <a:spcPts val="1200"/>
              </a:spcAft>
              <a:buNone/>
            </a:pPr>
            <a:r>
              <a:rPr lang="en-US" b="0" i="0" dirty="0">
                <a:solidFill>
                  <a:srgbClr val="161616"/>
                </a:solidFill>
                <a:effectLst/>
                <a:latin typeface="IBM Plex Sans" panose="020B0503050203000203" pitchFamily="34" charset="0"/>
              </a:rPr>
              <a:t>All agents work together through </a:t>
            </a:r>
            <a:r>
              <a:rPr lang="en-US" b="1" i="0" dirty="0">
                <a:solidFill>
                  <a:srgbClr val="161616"/>
                </a:solidFill>
                <a:effectLst/>
                <a:latin typeface="inherit"/>
              </a:rPr>
              <a:t>IBM Orchestrate</a:t>
            </a:r>
            <a:r>
              <a:rPr lang="en-US" b="0" i="0" dirty="0">
                <a:solidFill>
                  <a:srgbClr val="161616"/>
                </a:solidFill>
                <a:effectLst/>
                <a:latin typeface="IBM Plex Sans" panose="020B0503050203000203" pitchFamily="34" charset="0"/>
              </a:rPr>
              <a:t> to route requests, maintain context, and ensure a seamless user experience.</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dirty="0"/>
          </a:p>
        </p:txBody>
      </p:sp>
      <p:graphicFrame>
        <p:nvGraphicFramePr>
          <p:cNvPr id="4" name="Table 3">
            <a:extLst>
              <a:ext uri="{FF2B5EF4-FFF2-40B4-BE49-F238E27FC236}">
                <a16:creationId xmlns:a16="http://schemas.microsoft.com/office/drawing/2014/main" id="{4EEA1DD6-A76B-A7CE-0FD6-CAC5D6792FE1}"/>
              </a:ext>
            </a:extLst>
          </p:cNvPr>
          <p:cNvGraphicFramePr>
            <a:graphicFrameLocks noGrp="1"/>
          </p:cNvGraphicFramePr>
          <p:nvPr>
            <p:extLst>
              <p:ext uri="{D42A27DB-BD31-4B8C-83A1-F6EECF244321}">
                <p14:modId xmlns:p14="http://schemas.microsoft.com/office/powerpoint/2010/main" val="4155716944"/>
              </p:ext>
            </p:extLst>
          </p:nvPr>
        </p:nvGraphicFramePr>
        <p:xfrm>
          <a:off x="777240" y="946297"/>
          <a:ext cx="7459313" cy="5650700"/>
        </p:xfrm>
        <a:graphic>
          <a:graphicData uri="http://schemas.openxmlformats.org/drawingml/2006/table">
            <a:tbl>
              <a:tblPr/>
              <a:tblGrid>
                <a:gridCol w="2038789">
                  <a:extLst>
                    <a:ext uri="{9D8B030D-6E8A-4147-A177-3AD203B41FA5}">
                      <a16:colId xmlns:a16="http://schemas.microsoft.com/office/drawing/2014/main" val="64756576"/>
                    </a:ext>
                  </a:extLst>
                </a:gridCol>
                <a:gridCol w="2710262">
                  <a:extLst>
                    <a:ext uri="{9D8B030D-6E8A-4147-A177-3AD203B41FA5}">
                      <a16:colId xmlns:a16="http://schemas.microsoft.com/office/drawing/2014/main" val="2105470633"/>
                    </a:ext>
                  </a:extLst>
                </a:gridCol>
                <a:gridCol w="2710262">
                  <a:extLst>
                    <a:ext uri="{9D8B030D-6E8A-4147-A177-3AD203B41FA5}">
                      <a16:colId xmlns:a16="http://schemas.microsoft.com/office/drawing/2014/main" val="603106977"/>
                    </a:ext>
                  </a:extLst>
                </a:gridCol>
              </a:tblGrid>
              <a:tr h="194245">
                <a:tc>
                  <a:txBody>
                    <a:bodyPr/>
                    <a:lstStyle/>
                    <a:p>
                      <a:pPr algn="l" fontAlgn="ctr">
                        <a:buNone/>
                      </a:pPr>
                      <a:r>
                        <a:rPr lang="en-US" sz="1100" b="1" dirty="0">
                          <a:solidFill>
                            <a:srgbClr val="161616"/>
                          </a:solidFill>
                          <a:effectLst/>
                          <a:latin typeface="inherit"/>
                        </a:rPr>
                        <a:t>Layer</a:t>
                      </a:r>
                    </a:p>
                  </a:txBody>
                  <a:tcPr marL="39113" marR="39113" marT="19557" marB="19557" anchor="ctr">
                    <a:lnL>
                      <a:noFill/>
                    </a:lnL>
                    <a:lnR>
                      <a:noFill/>
                    </a:lnR>
                    <a:lnT>
                      <a:noFill/>
                    </a:lnT>
                    <a:lnB w="6096" cap="flat" cmpd="sng" algn="ctr">
                      <a:solidFill>
                        <a:srgbClr val="30B826"/>
                      </a:solidFill>
                      <a:prstDash val="solid"/>
                      <a:round/>
                      <a:headEnd type="none" w="med" len="med"/>
                      <a:tailEnd type="none" w="med" len="med"/>
                    </a:lnB>
                    <a:solidFill>
                      <a:srgbClr val="E0E0E0"/>
                    </a:solidFill>
                  </a:tcPr>
                </a:tc>
                <a:tc>
                  <a:txBody>
                    <a:bodyPr/>
                    <a:lstStyle/>
                    <a:p>
                      <a:pPr algn="l" fontAlgn="ctr">
                        <a:buNone/>
                      </a:pPr>
                      <a:r>
                        <a:rPr lang="en-US" sz="1100" b="1" dirty="0">
                          <a:solidFill>
                            <a:srgbClr val="161616"/>
                          </a:solidFill>
                          <a:effectLst/>
                          <a:latin typeface="inherit"/>
                        </a:rPr>
                        <a:t>Technology</a:t>
                      </a:r>
                    </a:p>
                  </a:txBody>
                  <a:tcPr marL="39113" marR="39113" marT="19557" marB="19557" anchor="ctr">
                    <a:lnL>
                      <a:noFill/>
                    </a:lnL>
                    <a:lnR>
                      <a:noFill/>
                    </a:lnR>
                    <a:lnT>
                      <a:noFill/>
                    </a:lnT>
                    <a:lnB w="6096" cap="flat" cmpd="sng" algn="ctr">
                      <a:solidFill>
                        <a:srgbClr val="90B526"/>
                      </a:solidFill>
                      <a:prstDash val="solid"/>
                      <a:round/>
                      <a:headEnd type="none" w="med" len="med"/>
                      <a:tailEnd type="none" w="med" len="med"/>
                    </a:lnB>
                    <a:solidFill>
                      <a:srgbClr val="E0E0E0"/>
                    </a:solidFill>
                  </a:tcPr>
                </a:tc>
                <a:tc>
                  <a:txBody>
                    <a:bodyPr/>
                    <a:lstStyle/>
                    <a:p>
                      <a:pPr algn="l" fontAlgn="ctr">
                        <a:buNone/>
                      </a:pPr>
                      <a:r>
                        <a:rPr lang="en-US" sz="1100" b="1" dirty="0">
                          <a:solidFill>
                            <a:srgbClr val="161616"/>
                          </a:solidFill>
                          <a:effectLst/>
                          <a:latin typeface="inherit"/>
                        </a:rPr>
                        <a:t>Role</a:t>
                      </a:r>
                    </a:p>
                  </a:txBody>
                  <a:tcPr marL="39113" marR="39113" marT="19557" marB="19557" anchor="ctr">
                    <a:lnL>
                      <a:noFill/>
                    </a:lnL>
                    <a:lnR>
                      <a:noFill/>
                    </a:lnR>
                    <a:lnT>
                      <a:noFill/>
                    </a:lnT>
                    <a:lnB w="6096" cap="flat" cmpd="sng" algn="ctr">
                      <a:solidFill>
                        <a:srgbClr val="30B826"/>
                      </a:solidFill>
                      <a:prstDash val="solid"/>
                      <a:round/>
                      <a:headEnd type="none" w="med" len="med"/>
                      <a:tailEnd type="none" w="med" len="med"/>
                    </a:lnB>
                    <a:solidFill>
                      <a:srgbClr val="E0E0E0"/>
                    </a:solidFill>
                  </a:tcPr>
                </a:tc>
                <a:extLst>
                  <a:ext uri="{0D108BD9-81ED-4DB2-BD59-A6C34878D82A}">
                    <a16:rowId xmlns:a16="http://schemas.microsoft.com/office/drawing/2014/main" val="751185532"/>
                  </a:ext>
                </a:extLst>
              </a:tr>
              <a:tr h="664814">
                <a:tc>
                  <a:txBody>
                    <a:bodyPr/>
                    <a:lstStyle/>
                    <a:p>
                      <a:pPr algn="l" fontAlgn="ctr">
                        <a:buNone/>
                      </a:pPr>
                      <a:r>
                        <a:rPr lang="en-US" sz="1100" b="1" dirty="0">
                          <a:solidFill>
                            <a:srgbClr val="161616"/>
                          </a:solidFill>
                          <a:effectLst/>
                          <a:latin typeface="inherit"/>
                        </a:rPr>
                        <a:t>Workflow &amp; Orchestration</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30B826"/>
                      </a:solidFill>
                      <a:prstDash val="solid"/>
                      <a:round/>
                      <a:headEnd type="none" w="med" len="med"/>
                      <a:tailEnd type="none" w="med" len="med"/>
                    </a:lnT>
                    <a:lnB w="6096" cap="flat" cmpd="sng" algn="ctr">
                      <a:solidFill>
                        <a:srgbClr val="30B826"/>
                      </a:solidFill>
                      <a:prstDash val="solid"/>
                      <a:round/>
                      <a:headEnd type="none" w="med" len="med"/>
                      <a:tailEnd type="none" w="med" len="med"/>
                    </a:lnB>
                    <a:solidFill>
                      <a:srgbClr val="FFFFFF"/>
                    </a:solidFill>
                  </a:tcPr>
                </a:tc>
                <a:tc>
                  <a:txBody>
                    <a:bodyPr/>
                    <a:lstStyle/>
                    <a:p>
                      <a:pPr algn="l" fontAlgn="ctr">
                        <a:buNone/>
                      </a:pPr>
                      <a:r>
                        <a:rPr lang="en-US" sz="1100" b="1" dirty="0">
                          <a:solidFill>
                            <a:srgbClr val="161616"/>
                          </a:solidFill>
                          <a:effectLst/>
                          <a:latin typeface="inherit"/>
                        </a:rPr>
                        <a:t>IBM </a:t>
                      </a:r>
                      <a:r>
                        <a:rPr lang="en-US" sz="1100" b="1" dirty="0" err="1">
                          <a:solidFill>
                            <a:srgbClr val="161616"/>
                          </a:solidFill>
                          <a:effectLst/>
                          <a:latin typeface="inherit"/>
                        </a:rPr>
                        <a:t>LangFlow</a:t>
                      </a:r>
                      <a:r>
                        <a:rPr lang="en-US" sz="1100" dirty="0">
                          <a:solidFill>
                            <a:srgbClr val="161616"/>
                          </a:solidFill>
                          <a:effectLst/>
                          <a:latin typeface="inherit"/>
                        </a:rPr>
                        <a:t> (graphical flow builder) + </a:t>
                      </a:r>
                      <a:r>
                        <a:rPr lang="en-US" sz="1100" b="1" dirty="0">
                          <a:solidFill>
                            <a:srgbClr val="161616"/>
                          </a:solidFill>
                          <a:effectLst/>
                          <a:latin typeface="inherit"/>
                        </a:rPr>
                        <a:t>IBM Orchestrate</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90B526"/>
                      </a:solidFill>
                      <a:prstDash val="solid"/>
                      <a:round/>
                      <a:headEnd type="none" w="med" len="med"/>
                      <a:tailEnd type="none" w="med" len="med"/>
                    </a:lnT>
                    <a:lnB w="6096" cap="flat" cmpd="sng" algn="ctr">
                      <a:solidFill>
                        <a:srgbClr val="F0B826"/>
                      </a:solidFill>
                      <a:prstDash val="solid"/>
                      <a:round/>
                      <a:headEnd type="none" w="med" len="med"/>
                      <a:tailEnd type="none" w="med" len="med"/>
                    </a:lnB>
                    <a:solidFill>
                      <a:srgbClr val="FFFFFF"/>
                    </a:solidFill>
                  </a:tcPr>
                </a:tc>
                <a:tc>
                  <a:txBody>
                    <a:bodyPr/>
                    <a:lstStyle/>
                    <a:p>
                      <a:pPr algn="l" fontAlgn="ctr">
                        <a:buNone/>
                      </a:pPr>
                      <a:r>
                        <a:rPr lang="en-US" sz="1100" dirty="0">
                          <a:solidFill>
                            <a:srgbClr val="161616"/>
                          </a:solidFill>
                          <a:effectLst/>
                          <a:latin typeface="inherit"/>
                        </a:rPr>
                        <a:t>Design and manage the multi‑agent pipelines, state handling, and external API calls.</a:t>
                      </a:r>
                    </a:p>
                  </a:txBody>
                  <a:tcPr marL="39113" marR="39113" marT="19557" marB="19557" anchor="ctr">
                    <a:lnL>
                      <a:noFill/>
                    </a:lnL>
                    <a:lnR>
                      <a:noFill/>
                    </a:lnR>
                    <a:lnT w="6096" cap="flat" cmpd="sng" algn="ctr">
                      <a:solidFill>
                        <a:srgbClr val="30B826"/>
                      </a:solidFill>
                      <a:prstDash val="solid"/>
                      <a:round/>
                      <a:headEnd type="none" w="med" len="med"/>
                      <a:tailEnd type="none" w="med" len="med"/>
                    </a:lnT>
                    <a:lnB w="6096" cap="flat" cmpd="sng" algn="ctr">
                      <a:solidFill>
                        <a:srgbClr val="30AF26"/>
                      </a:solidFill>
                      <a:prstDash val="solid"/>
                      <a:round/>
                      <a:headEnd type="none" w="med" len="med"/>
                      <a:tailEnd type="none" w="med" len="med"/>
                    </a:lnB>
                    <a:solidFill>
                      <a:srgbClr val="FFFFFF"/>
                    </a:solidFill>
                  </a:tcPr>
                </a:tc>
                <a:extLst>
                  <a:ext uri="{0D108BD9-81ED-4DB2-BD59-A6C34878D82A}">
                    <a16:rowId xmlns:a16="http://schemas.microsoft.com/office/drawing/2014/main" val="3271861053"/>
                  </a:ext>
                </a:extLst>
              </a:tr>
              <a:tr h="664814">
                <a:tc>
                  <a:txBody>
                    <a:bodyPr/>
                    <a:lstStyle/>
                    <a:p>
                      <a:pPr algn="l" fontAlgn="ctr">
                        <a:buNone/>
                      </a:pPr>
                      <a:r>
                        <a:rPr lang="en-US" sz="1100" b="1" dirty="0">
                          <a:solidFill>
                            <a:srgbClr val="161616"/>
                          </a:solidFill>
                          <a:effectLst/>
                          <a:latin typeface="inherit"/>
                        </a:rPr>
                        <a:t>LLM Core</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30B826"/>
                      </a:solidFill>
                      <a:prstDash val="solid"/>
                      <a:round/>
                      <a:headEnd type="none" w="med" len="med"/>
                      <a:tailEnd type="none" w="med" len="med"/>
                    </a:lnT>
                    <a:lnB w="6096" cap="flat" cmpd="sng" algn="ctr">
                      <a:solidFill>
                        <a:srgbClr val="30B826"/>
                      </a:solidFill>
                      <a:prstDash val="solid"/>
                      <a:round/>
                      <a:headEnd type="none" w="med" len="med"/>
                      <a:tailEnd type="none" w="med" len="med"/>
                    </a:lnB>
                    <a:solidFill>
                      <a:srgbClr val="FFFFFF"/>
                    </a:solidFill>
                  </a:tcPr>
                </a:tc>
                <a:tc>
                  <a:txBody>
                    <a:bodyPr/>
                    <a:lstStyle/>
                    <a:p>
                      <a:pPr algn="l" fontAlgn="ctr">
                        <a:buNone/>
                      </a:pPr>
                      <a:r>
                        <a:rPr lang="en-US" sz="1100" b="1" dirty="0">
                          <a:solidFill>
                            <a:srgbClr val="161616"/>
                          </a:solidFill>
                          <a:effectLst/>
                          <a:latin typeface="inherit"/>
                        </a:rPr>
                        <a:t>IBM Granite / IBM Watsonx.ai</a:t>
                      </a:r>
                      <a:r>
                        <a:rPr lang="en-US" sz="1100" dirty="0">
                          <a:solidFill>
                            <a:srgbClr val="161616"/>
                          </a:solidFill>
                          <a:effectLst/>
                          <a:latin typeface="inherit"/>
                        </a:rPr>
                        <a:t> (instruction‑tuned LLM)</a:t>
                      </a:r>
                    </a:p>
                  </a:txBody>
                  <a:tcPr marL="39113" marR="39113" marT="19557" marB="19557" anchor="ctr">
                    <a:lnL>
                      <a:noFill/>
                    </a:lnL>
                    <a:lnR>
                      <a:noFill/>
                    </a:lnR>
                    <a:lnT w="6096" cap="flat" cmpd="sng" algn="ctr">
                      <a:solidFill>
                        <a:srgbClr val="F0B826"/>
                      </a:solidFill>
                      <a:prstDash val="solid"/>
                      <a:round/>
                      <a:headEnd type="none" w="med" len="med"/>
                      <a:tailEnd type="none" w="med" len="med"/>
                    </a:lnT>
                    <a:lnB w="6096" cap="flat" cmpd="sng" algn="ctr">
                      <a:solidFill>
                        <a:srgbClr val="70B726"/>
                      </a:solidFill>
                      <a:prstDash val="solid"/>
                      <a:round/>
                      <a:headEnd type="none" w="med" len="med"/>
                      <a:tailEnd type="none" w="med" len="med"/>
                    </a:lnB>
                    <a:solidFill>
                      <a:srgbClr val="FFFFFF"/>
                    </a:solidFill>
                  </a:tcPr>
                </a:tc>
                <a:tc>
                  <a:txBody>
                    <a:bodyPr/>
                    <a:lstStyle/>
                    <a:p>
                      <a:pPr algn="l" fontAlgn="ctr">
                        <a:buNone/>
                      </a:pPr>
                      <a:r>
                        <a:rPr lang="en-US" sz="1100" dirty="0">
                          <a:solidFill>
                            <a:srgbClr val="161616"/>
                          </a:solidFill>
                          <a:effectLst/>
                          <a:latin typeface="inherit"/>
                        </a:rPr>
                        <a:t>Natural‑language understanding, plan generation, conversational responses.</a:t>
                      </a:r>
                    </a:p>
                  </a:txBody>
                  <a:tcPr marL="39113" marR="39113" marT="19557" marB="19557" anchor="ctr">
                    <a:lnL>
                      <a:noFill/>
                    </a:lnL>
                    <a:lnR>
                      <a:noFill/>
                    </a:lnR>
                    <a:lnT w="6096" cap="flat" cmpd="sng" algn="ctr">
                      <a:solidFill>
                        <a:srgbClr val="30AF26"/>
                      </a:solidFill>
                      <a:prstDash val="solid"/>
                      <a:round/>
                      <a:headEnd type="none" w="med" len="med"/>
                      <a:tailEnd type="none" w="med" len="med"/>
                    </a:lnT>
                    <a:lnB w="6096" cap="flat" cmpd="sng" algn="ctr">
                      <a:solidFill>
                        <a:srgbClr val="90B526"/>
                      </a:solidFill>
                      <a:prstDash val="solid"/>
                      <a:round/>
                      <a:headEnd type="none" w="med" len="med"/>
                      <a:tailEnd type="none" w="med" len="med"/>
                    </a:lnB>
                    <a:solidFill>
                      <a:srgbClr val="FFFFFF"/>
                    </a:solidFill>
                  </a:tcPr>
                </a:tc>
                <a:extLst>
                  <a:ext uri="{0D108BD9-81ED-4DB2-BD59-A6C34878D82A}">
                    <a16:rowId xmlns:a16="http://schemas.microsoft.com/office/drawing/2014/main" val="2319960710"/>
                  </a:ext>
                </a:extLst>
              </a:tr>
              <a:tr h="1103841">
                <a:tc>
                  <a:txBody>
                    <a:bodyPr/>
                    <a:lstStyle/>
                    <a:p>
                      <a:pPr algn="l" fontAlgn="ctr">
                        <a:buNone/>
                      </a:pPr>
                      <a:r>
                        <a:rPr lang="en-US" sz="1100" b="1" dirty="0">
                          <a:solidFill>
                            <a:srgbClr val="161616"/>
                          </a:solidFill>
                          <a:effectLst/>
                          <a:latin typeface="inherit"/>
                        </a:rPr>
                        <a:t>Retrieval‑Augmented Generation</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30B826"/>
                      </a:solidFill>
                      <a:prstDash val="solid"/>
                      <a:round/>
                      <a:headEnd type="none" w="med" len="med"/>
                      <a:tailEnd type="none" w="med" len="med"/>
                    </a:lnT>
                    <a:lnB w="6096" cap="flat" cmpd="sng" algn="ctr">
                      <a:solidFill>
                        <a:srgbClr val="B0AD26"/>
                      </a:solidFill>
                      <a:prstDash val="solid"/>
                      <a:round/>
                      <a:headEnd type="none" w="med" len="med"/>
                      <a:tailEnd type="none" w="med" len="med"/>
                    </a:lnB>
                    <a:solidFill>
                      <a:srgbClr val="FFFFFF"/>
                    </a:solidFill>
                  </a:tcPr>
                </a:tc>
                <a:tc>
                  <a:txBody>
                    <a:bodyPr/>
                    <a:lstStyle/>
                    <a:p>
                      <a:pPr algn="l" fontAlgn="ctr">
                        <a:buNone/>
                      </a:pPr>
                      <a:r>
                        <a:rPr lang="en-US" sz="1100" b="1" dirty="0">
                          <a:solidFill>
                            <a:srgbClr val="161616"/>
                          </a:solidFill>
                          <a:effectLst/>
                          <a:latin typeface="inherit"/>
                        </a:rPr>
                        <a:t>IBM Knowledge Studio</a:t>
                      </a:r>
                      <a:r>
                        <a:rPr lang="en-US" sz="1100" dirty="0">
                          <a:solidFill>
                            <a:srgbClr val="161616"/>
                          </a:solidFill>
                          <a:effectLst/>
                          <a:latin typeface="inherit"/>
                        </a:rPr>
                        <a:t> + </a:t>
                      </a:r>
                      <a:r>
                        <a:rPr lang="en-US" sz="1100" b="1" dirty="0">
                          <a:solidFill>
                            <a:srgbClr val="161616"/>
                          </a:solidFill>
                          <a:effectLst/>
                          <a:latin typeface="inherit"/>
                        </a:rPr>
                        <a:t>Vector DB (e.g., Milvus/IBM Cloud Vector Search)</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70B726"/>
                      </a:solidFill>
                      <a:prstDash val="solid"/>
                      <a:round/>
                      <a:headEnd type="none" w="med" len="med"/>
                      <a:tailEnd type="none" w="med" len="med"/>
                    </a:lnT>
                    <a:lnB w="6096" cap="flat" cmpd="sng" algn="ctr">
                      <a:solidFill>
                        <a:srgbClr val="10AE26"/>
                      </a:solidFill>
                      <a:prstDash val="solid"/>
                      <a:round/>
                      <a:headEnd type="none" w="med" len="med"/>
                      <a:tailEnd type="none" w="med" len="med"/>
                    </a:lnB>
                    <a:solidFill>
                      <a:srgbClr val="FFFFFF"/>
                    </a:solidFill>
                  </a:tcPr>
                </a:tc>
                <a:tc>
                  <a:txBody>
                    <a:bodyPr/>
                    <a:lstStyle/>
                    <a:p>
                      <a:pPr algn="l" fontAlgn="ctr">
                        <a:buNone/>
                      </a:pPr>
                      <a:r>
                        <a:rPr lang="en-US" sz="1100">
                          <a:solidFill>
                            <a:srgbClr val="161616"/>
                          </a:solidFill>
                          <a:effectLst/>
                          <a:latin typeface="inherit"/>
                        </a:rPr>
                        <a:t>Indexes nutrition datasets (USDA, EFSA, clinical guidelines); retrieves relevant facts for the Nutrition Knowledge Agent.</a:t>
                      </a:r>
                    </a:p>
                  </a:txBody>
                  <a:tcPr marL="39113" marR="39113" marT="19557" marB="19557" anchor="ctr">
                    <a:lnL>
                      <a:noFill/>
                    </a:lnL>
                    <a:lnR>
                      <a:noFill/>
                    </a:lnR>
                    <a:lnT w="6096" cap="flat" cmpd="sng" algn="ctr">
                      <a:solidFill>
                        <a:srgbClr val="90B526"/>
                      </a:solidFill>
                      <a:prstDash val="solid"/>
                      <a:round/>
                      <a:headEnd type="none" w="med" len="med"/>
                      <a:tailEnd type="none" w="med" len="med"/>
                    </a:lnT>
                    <a:lnB w="6096" cap="flat" cmpd="sng" algn="ctr">
                      <a:solidFill>
                        <a:srgbClr val="70B726"/>
                      </a:solidFill>
                      <a:prstDash val="solid"/>
                      <a:round/>
                      <a:headEnd type="none" w="med" len="med"/>
                      <a:tailEnd type="none" w="med" len="med"/>
                    </a:lnB>
                    <a:solidFill>
                      <a:srgbClr val="FFFFFF"/>
                    </a:solidFill>
                  </a:tcPr>
                </a:tc>
                <a:extLst>
                  <a:ext uri="{0D108BD9-81ED-4DB2-BD59-A6C34878D82A}">
                    <a16:rowId xmlns:a16="http://schemas.microsoft.com/office/drawing/2014/main" val="3321870218"/>
                  </a:ext>
                </a:extLst>
              </a:tr>
              <a:tr h="664814">
                <a:tc>
                  <a:txBody>
                    <a:bodyPr/>
                    <a:lstStyle/>
                    <a:p>
                      <a:pPr algn="l" fontAlgn="ctr">
                        <a:buNone/>
                      </a:pPr>
                      <a:r>
                        <a:rPr lang="en-US" sz="1100" b="1" dirty="0">
                          <a:solidFill>
                            <a:srgbClr val="161616"/>
                          </a:solidFill>
                          <a:effectLst/>
                          <a:latin typeface="inherit"/>
                        </a:rPr>
                        <a:t>Image &amp; Speech Processing</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B0AD26"/>
                      </a:solidFill>
                      <a:prstDash val="solid"/>
                      <a:round/>
                      <a:headEnd type="none" w="med" len="med"/>
                      <a:tailEnd type="none" w="med" len="med"/>
                    </a:lnT>
                    <a:lnB w="6096" cap="flat" cmpd="sng" algn="ctr">
                      <a:solidFill>
                        <a:srgbClr val="F0AC26"/>
                      </a:solidFill>
                      <a:prstDash val="solid"/>
                      <a:round/>
                      <a:headEnd type="none" w="med" len="med"/>
                      <a:tailEnd type="none" w="med" len="med"/>
                    </a:lnB>
                    <a:solidFill>
                      <a:srgbClr val="FFFFFF"/>
                    </a:solidFill>
                  </a:tcPr>
                </a:tc>
                <a:tc>
                  <a:txBody>
                    <a:bodyPr/>
                    <a:lstStyle/>
                    <a:p>
                      <a:pPr algn="l" fontAlgn="ctr">
                        <a:buNone/>
                      </a:pPr>
                      <a:r>
                        <a:rPr lang="en-US" sz="1100" b="1" dirty="0">
                          <a:solidFill>
                            <a:srgbClr val="161616"/>
                          </a:solidFill>
                          <a:effectLst/>
                          <a:latin typeface="inherit"/>
                        </a:rPr>
                        <a:t>IBM Visual Recognition</a:t>
                      </a:r>
                      <a:r>
                        <a:rPr lang="en-US" sz="1100" dirty="0">
                          <a:solidFill>
                            <a:srgbClr val="161616"/>
                          </a:solidFill>
                          <a:effectLst/>
                          <a:latin typeface="inherit"/>
                        </a:rPr>
                        <a:t> (food‑image classification) + </a:t>
                      </a:r>
                      <a:r>
                        <a:rPr lang="en-US" sz="1100" b="1" dirty="0">
                          <a:solidFill>
                            <a:srgbClr val="161616"/>
                          </a:solidFill>
                          <a:effectLst/>
                          <a:latin typeface="inherit"/>
                        </a:rPr>
                        <a:t>IBM Speech‑to‑Text</a:t>
                      </a:r>
                      <a:endParaRPr lang="en-US" sz="1100" dirty="0">
                        <a:solidFill>
                          <a:srgbClr val="161616"/>
                        </a:solidFill>
                        <a:effectLst/>
                        <a:latin typeface="inherit"/>
                      </a:endParaRPr>
                    </a:p>
                  </a:txBody>
                  <a:tcPr marL="39113" marR="39113" marT="19557" marB="19557" anchor="ctr">
                    <a:lnL>
                      <a:noFill/>
                    </a:lnL>
                    <a:lnR>
                      <a:noFill/>
                    </a:lnR>
                    <a:lnT w="6096" cap="flat" cmpd="sng" algn="ctr">
                      <a:solidFill>
                        <a:srgbClr val="10AE26"/>
                      </a:solidFill>
                      <a:prstDash val="solid"/>
                      <a:round/>
                      <a:headEnd type="none" w="med" len="med"/>
                      <a:tailEnd type="none" w="med" len="med"/>
                    </a:lnT>
                    <a:lnB w="6096" cap="flat" cmpd="sng" algn="ctr">
                      <a:solidFill>
                        <a:srgbClr val="30B826"/>
                      </a:solidFill>
                      <a:prstDash val="solid"/>
                      <a:round/>
                      <a:headEnd type="none" w="med" len="med"/>
                      <a:tailEnd type="none" w="med" len="med"/>
                    </a:lnB>
                    <a:solidFill>
                      <a:srgbClr val="FFFFFF"/>
                    </a:solidFill>
                  </a:tcPr>
                </a:tc>
                <a:tc>
                  <a:txBody>
                    <a:bodyPr/>
                    <a:lstStyle/>
                    <a:p>
                      <a:pPr algn="l" fontAlgn="ctr">
                        <a:buNone/>
                      </a:pPr>
                      <a:r>
                        <a:rPr lang="en-US" sz="1100" dirty="0">
                          <a:solidFill>
                            <a:srgbClr val="161616"/>
                          </a:solidFill>
                          <a:effectLst/>
                          <a:latin typeface="inherit"/>
                        </a:rPr>
                        <a:t>Convert photos or voice logs into structured food‑item lists and portion estimates.</a:t>
                      </a:r>
                    </a:p>
                  </a:txBody>
                  <a:tcPr marL="39113" marR="39113" marT="19557" marB="19557" anchor="ctr">
                    <a:lnL>
                      <a:noFill/>
                    </a:lnL>
                    <a:lnR>
                      <a:noFill/>
                    </a:lnR>
                    <a:lnT w="6096" cap="flat" cmpd="sng" algn="ctr">
                      <a:solidFill>
                        <a:srgbClr val="70B726"/>
                      </a:solidFill>
                      <a:prstDash val="solid"/>
                      <a:round/>
                      <a:headEnd type="none" w="med" len="med"/>
                      <a:tailEnd type="none" w="med" len="med"/>
                    </a:lnT>
                    <a:lnB w="6096" cap="flat" cmpd="sng" algn="ctr">
                      <a:solidFill>
                        <a:srgbClr val="90B526"/>
                      </a:solidFill>
                      <a:prstDash val="solid"/>
                      <a:round/>
                      <a:headEnd type="none" w="med" len="med"/>
                      <a:tailEnd type="none" w="med" len="med"/>
                    </a:lnB>
                    <a:solidFill>
                      <a:srgbClr val="FFFFFF"/>
                    </a:solidFill>
                  </a:tcPr>
                </a:tc>
                <a:extLst>
                  <a:ext uri="{0D108BD9-81ED-4DB2-BD59-A6C34878D82A}">
                    <a16:rowId xmlns:a16="http://schemas.microsoft.com/office/drawing/2014/main" val="1099516450"/>
                  </a:ext>
                </a:extLst>
              </a:tr>
              <a:tr h="1103841">
                <a:tc>
                  <a:txBody>
                    <a:bodyPr/>
                    <a:lstStyle/>
                    <a:p>
                      <a:pPr algn="l" fontAlgn="ctr">
                        <a:buNone/>
                      </a:pPr>
                      <a:r>
                        <a:rPr lang="en-US" sz="1100" b="1">
                          <a:solidFill>
                            <a:srgbClr val="161616"/>
                          </a:solidFill>
                          <a:effectLst/>
                          <a:latin typeface="inherit"/>
                        </a:rPr>
                        <a:t>Data Sources</a:t>
                      </a:r>
                      <a:endParaRPr lang="en-US" sz="1100">
                        <a:solidFill>
                          <a:srgbClr val="161616"/>
                        </a:solidFill>
                        <a:effectLst/>
                        <a:latin typeface="inherit"/>
                      </a:endParaRPr>
                    </a:p>
                  </a:txBody>
                  <a:tcPr marL="39113" marR="39113" marT="19557" marB="19557" anchor="ctr">
                    <a:lnL>
                      <a:noFill/>
                    </a:lnL>
                    <a:lnR>
                      <a:noFill/>
                    </a:lnR>
                    <a:lnT w="6096" cap="flat" cmpd="sng" algn="ctr">
                      <a:solidFill>
                        <a:srgbClr val="F0AC26"/>
                      </a:solidFill>
                      <a:prstDash val="solid"/>
                      <a:round/>
                      <a:headEnd type="none" w="med" len="med"/>
                      <a:tailEnd type="none" w="med" len="med"/>
                    </a:lnT>
                    <a:lnB w="6096" cap="flat" cmpd="sng" algn="ctr">
                      <a:solidFill>
                        <a:srgbClr val="50B926"/>
                      </a:solidFill>
                      <a:prstDash val="solid"/>
                      <a:round/>
                      <a:headEnd type="none" w="med" len="med"/>
                      <a:tailEnd type="none" w="med" len="med"/>
                    </a:lnB>
                    <a:solidFill>
                      <a:srgbClr val="FFFFFF"/>
                    </a:solidFill>
                  </a:tcPr>
                </a:tc>
                <a:tc>
                  <a:txBody>
                    <a:bodyPr/>
                    <a:lstStyle/>
                    <a:p>
                      <a:pPr algn="l" fontAlgn="ctr">
                        <a:buNone/>
                      </a:pPr>
                      <a:r>
                        <a:rPr lang="en-US" sz="1100">
                          <a:solidFill>
                            <a:srgbClr val="161616"/>
                          </a:solidFill>
                          <a:effectLst/>
                          <a:latin typeface="inherit"/>
                        </a:rPr>
                        <a:t>USDA FoodData Central, EFSA, WHO nutrient recommendations, ADA/AHA clinical guidelines, peer‑reviewed nutrition journals (via CrossRef API)</a:t>
                      </a:r>
                    </a:p>
                  </a:txBody>
                  <a:tcPr marL="39113" marR="39113" marT="19557" marB="19557" anchor="ctr">
                    <a:lnL>
                      <a:noFill/>
                    </a:lnL>
                    <a:lnR>
                      <a:noFill/>
                    </a:lnR>
                    <a:lnT w="6096" cap="flat" cmpd="sng" algn="ctr">
                      <a:solidFill>
                        <a:srgbClr val="30B826"/>
                      </a:solidFill>
                      <a:prstDash val="solid"/>
                      <a:round/>
                      <a:headEnd type="none" w="med" len="med"/>
                      <a:tailEnd type="none" w="med" len="med"/>
                    </a:lnT>
                    <a:lnB w="6096" cap="flat" cmpd="sng" algn="ctr">
                      <a:solidFill>
                        <a:srgbClr val="10AE26"/>
                      </a:solidFill>
                      <a:prstDash val="solid"/>
                      <a:round/>
                      <a:headEnd type="none" w="med" len="med"/>
                      <a:tailEnd type="none" w="med" len="med"/>
                    </a:lnB>
                    <a:solidFill>
                      <a:srgbClr val="FFFFFF"/>
                    </a:solidFill>
                  </a:tcPr>
                </a:tc>
                <a:tc>
                  <a:txBody>
                    <a:bodyPr/>
                    <a:lstStyle/>
                    <a:p>
                      <a:pPr algn="l" fontAlgn="ctr">
                        <a:buNone/>
                      </a:pPr>
                      <a:r>
                        <a:rPr lang="en-US" sz="1100" dirty="0">
                          <a:solidFill>
                            <a:srgbClr val="161616"/>
                          </a:solidFill>
                          <a:effectLst/>
                          <a:latin typeface="inherit"/>
                        </a:rPr>
                        <a:t>Authoritative nutrition facts and disease‑specific diet rules.</a:t>
                      </a:r>
                    </a:p>
                  </a:txBody>
                  <a:tcPr marL="39113" marR="39113" marT="19557" marB="19557" anchor="ctr">
                    <a:lnL>
                      <a:noFill/>
                    </a:lnL>
                    <a:lnR>
                      <a:noFill/>
                    </a:lnR>
                    <a:lnT w="6096" cap="flat" cmpd="sng" algn="ctr">
                      <a:solidFill>
                        <a:srgbClr val="90B526"/>
                      </a:solidFill>
                      <a:prstDash val="solid"/>
                      <a:round/>
                      <a:headEnd type="none" w="med" len="med"/>
                      <a:tailEnd type="none" w="med" len="med"/>
                    </a:lnT>
                    <a:lnB w="6096" cap="flat" cmpd="sng" algn="ctr">
                      <a:solidFill>
                        <a:srgbClr val="30A326"/>
                      </a:solidFill>
                      <a:prstDash val="solid"/>
                      <a:round/>
                      <a:headEnd type="none" w="med" len="med"/>
                      <a:tailEnd type="none" w="med" len="med"/>
                    </a:lnB>
                    <a:solidFill>
                      <a:srgbClr val="FFFFFF"/>
                    </a:solidFill>
                  </a:tcPr>
                </a:tc>
                <a:extLst>
                  <a:ext uri="{0D108BD9-81ED-4DB2-BD59-A6C34878D82A}">
                    <a16:rowId xmlns:a16="http://schemas.microsoft.com/office/drawing/2014/main" val="3941571064"/>
                  </a:ext>
                </a:extLst>
              </a:tr>
              <a:tr h="752619">
                <a:tc>
                  <a:txBody>
                    <a:bodyPr/>
                    <a:lstStyle/>
                    <a:p>
                      <a:pPr algn="l" fontAlgn="ctr">
                        <a:buNone/>
                      </a:pPr>
                      <a:r>
                        <a:rPr lang="en-US" sz="1100" b="1">
                          <a:solidFill>
                            <a:srgbClr val="161616"/>
                          </a:solidFill>
                          <a:effectLst/>
                          <a:latin typeface="inherit"/>
                        </a:rPr>
                        <a:t>Frontend / Dashboard</a:t>
                      </a:r>
                      <a:endParaRPr lang="en-US" sz="1100">
                        <a:solidFill>
                          <a:srgbClr val="161616"/>
                        </a:solidFill>
                        <a:effectLst/>
                        <a:latin typeface="inherit"/>
                      </a:endParaRPr>
                    </a:p>
                  </a:txBody>
                  <a:tcPr marL="39113" marR="39113" marT="19557" marB="19557" anchor="ctr">
                    <a:lnL>
                      <a:noFill/>
                    </a:lnL>
                    <a:lnR>
                      <a:noFill/>
                    </a:lnR>
                    <a:lnT w="6096" cap="flat" cmpd="sng" algn="ctr">
                      <a:solidFill>
                        <a:srgbClr val="50B926"/>
                      </a:solidFill>
                      <a:prstDash val="solid"/>
                      <a:round/>
                      <a:headEnd type="none" w="med" len="med"/>
                      <a:tailEnd type="none" w="med" len="med"/>
                    </a:lnT>
                    <a:lnB w="6096" cap="flat" cmpd="sng" algn="ctr">
                      <a:solidFill>
                        <a:srgbClr val="70B726"/>
                      </a:solidFill>
                      <a:prstDash val="solid"/>
                      <a:round/>
                      <a:headEnd type="none" w="med" len="med"/>
                      <a:tailEnd type="none" w="med" len="med"/>
                    </a:lnB>
                    <a:solidFill>
                      <a:srgbClr val="E8E8E8"/>
                    </a:solidFill>
                  </a:tcPr>
                </a:tc>
                <a:tc>
                  <a:txBody>
                    <a:bodyPr/>
                    <a:lstStyle/>
                    <a:p>
                      <a:pPr algn="l" fontAlgn="ctr">
                        <a:buNone/>
                      </a:pPr>
                      <a:r>
                        <a:rPr lang="en-US" sz="1100" b="1">
                          <a:solidFill>
                            <a:srgbClr val="161616"/>
                          </a:solidFill>
                          <a:effectLst/>
                          <a:latin typeface="inherit"/>
                        </a:rPr>
                        <a:t>IBM Cloud Pak for Data</a:t>
                      </a:r>
                      <a:r>
                        <a:rPr lang="en-US" sz="1100">
                          <a:solidFill>
                            <a:srgbClr val="161616"/>
                          </a:solidFill>
                          <a:effectLst/>
                          <a:latin typeface="inherit"/>
                        </a:rPr>
                        <a:t> (Dash/Plotly), </a:t>
                      </a:r>
                      <a:r>
                        <a:rPr lang="en-US" sz="1100" b="1">
                          <a:solidFill>
                            <a:srgbClr val="161616"/>
                          </a:solidFill>
                          <a:effectLst/>
                          <a:latin typeface="inherit"/>
                        </a:rPr>
                        <a:t>React</a:t>
                      </a:r>
                      <a:r>
                        <a:rPr lang="en-US" sz="1100">
                          <a:solidFill>
                            <a:srgbClr val="161616"/>
                          </a:solidFill>
                          <a:effectLst/>
                          <a:latin typeface="inherit"/>
                        </a:rPr>
                        <a:t> UI, </a:t>
                      </a:r>
                      <a:r>
                        <a:rPr lang="en-US" sz="1100" b="1">
                          <a:solidFill>
                            <a:srgbClr val="161616"/>
                          </a:solidFill>
                          <a:effectLst/>
                          <a:latin typeface="inherit"/>
                        </a:rPr>
                        <a:t>IBM Cloud Object Storage</a:t>
                      </a:r>
                      <a:r>
                        <a:rPr lang="en-US" sz="1100">
                          <a:solidFill>
                            <a:srgbClr val="161616"/>
                          </a:solidFill>
                          <a:effectLst/>
                          <a:latin typeface="inherit"/>
                        </a:rPr>
                        <a:t> for user logs</a:t>
                      </a:r>
                    </a:p>
                  </a:txBody>
                  <a:tcPr marL="39113" marR="39113" marT="19557" marB="19557" anchor="ctr">
                    <a:lnL>
                      <a:noFill/>
                    </a:lnL>
                    <a:lnR>
                      <a:noFill/>
                    </a:lnR>
                    <a:lnT w="6096" cap="flat" cmpd="sng" algn="ctr">
                      <a:solidFill>
                        <a:srgbClr val="10AE26"/>
                      </a:solidFill>
                      <a:prstDash val="solid"/>
                      <a:round/>
                      <a:headEnd type="none" w="med" len="med"/>
                      <a:tailEnd type="none" w="med" len="med"/>
                    </a:lnT>
                    <a:lnB w="6096" cap="flat" cmpd="sng" algn="ctr">
                      <a:solidFill>
                        <a:srgbClr val="50B026"/>
                      </a:solidFill>
                      <a:prstDash val="solid"/>
                      <a:round/>
                      <a:headEnd type="none" w="med" len="med"/>
                      <a:tailEnd type="none" w="med" len="med"/>
                    </a:lnB>
                    <a:solidFill>
                      <a:srgbClr val="E8E8E8"/>
                    </a:solidFill>
                  </a:tcPr>
                </a:tc>
                <a:tc>
                  <a:txBody>
                    <a:bodyPr/>
                    <a:lstStyle/>
                    <a:p>
                      <a:pPr algn="l" fontAlgn="ctr">
                        <a:buNone/>
                      </a:pPr>
                      <a:r>
                        <a:rPr lang="en-US" sz="1100" dirty="0">
                          <a:solidFill>
                            <a:srgbClr val="161616"/>
                          </a:solidFill>
                          <a:effectLst/>
                          <a:latin typeface="inherit"/>
                        </a:rPr>
                        <a:t>Interactive visualizations, progress tracking, and meal‑plan export.</a:t>
                      </a:r>
                    </a:p>
                  </a:txBody>
                  <a:tcPr marL="39113" marR="39113" marT="19557" marB="19557" anchor="ctr">
                    <a:lnL>
                      <a:noFill/>
                    </a:lnL>
                    <a:lnR>
                      <a:noFill/>
                    </a:lnR>
                    <a:lnT w="6096" cap="flat" cmpd="sng" algn="ctr">
                      <a:solidFill>
                        <a:srgbClr val="30A326"/>
                      </a:solidFill>
                      <a:prstDash val="solid"/>
                      <a:round/>
                      <a:headEnd type="none" w="med" len="med"/>
                      <a:tailEnd type="none" w="med" len="med"/>
                    </a:lnT>
                    <a:lnB w="6096" cap="flat" cmpd="sng" algn="ctr">
                      <a:solidFill>
                        <a:srgbClr val="90B526"/>
                      </a:solidFill>
                      <a:prstDash val="solid"/>
                      <a:round/>
                      <a:headEnd type="none" w="med" len="med"/>
                      <a:tailEnd type="none" w="med" len="med"/>
                    </a:lnB>
                    <a:solidFill>
                      <a:srgbClr val="E8E8E8"/>
                    </a:solidFill>
                  </a:tcPr>
                </a:tc>
                <a:extLst>
                  <a:ext uri="{0D108BD9-81ED-4DB2-BD59-A6C34878D82A}">
                    <a16:rowId xmlns:a16="http://schemas.microsoft.com/office/drawing/2014/main" val="3152381301"/>
                  </a:ext>
                </a:extLst>
              </a:tr>
              <a:tr h="489203">
                <a:tc>
                  <a:txBody>
                    <a:bodyPr/>
                    <a:lstStyle/>
                    <a:p>
                      <a:pPr algn="l" fontAlgn="ctr">
                        <a:buNone/>
                      </a:pPr>
                      <a:r>
                        <a:rPr lang="en-US" sz="1100" b="1">
                          <a:solidFill>
                            <a:srgbClr val="161616"/>
                          </a:solidFill>
                          <a:effectLst/>
                          <a:latin typeface="inherit"/>
                        </a:rPr>
                        <a:t>Security &amp; Compliance</a:t>
                      </a:r>
                      <a:endParaRPr lang="en-US" sz="1100">
                        <a:solidFill>
                          <a:srgbClr val="161616"/>
                        </a:solidFill>
                        <a:effectLst/>
                        <a:latin typeface="inherit"/>
                      </a:endParaRPr>
                    </a:p>
                  </a:txBody>
                  <a:tcPr marL="39113" marR="39113" marT="19557" marB="19557" anchor="ctr">
                    <a:lnL>
                      <a:noFill/>
                    </a:lnL>
                    <a:lnR>
                      <a:noFill/>
                    </a:lnR>
                    <a:lnT w="6096" cap="flat" cmpd="sng" algn="ctr">
                      <a:solidFill>
                        <a:srgbClr val="70B726"/>
                      </a:solidFill>
                      <a:prstDash val="solid"/>
                      <a:round/>
                      <a:headEnd type="none" w="med" len="med"/>
                      <a:tailEnd type="none" w="med" len="med"/>
                    </a:lnT>
                    <a:lnB w="6096" cap="flat" cmpd="sng" algn="ctr">
                      <a:solidFill>
                        <a:srgbClr val="10A526"/>
                      </a:solidFill>
                      <a:prstDash val="solid"/>
                      <a:round/>
                      <a:headEnd type="none" w="med" len="med"/>
                      <a:tailEnd type="none" w="med" len="med"/>
                    </a:lnB>
                    <a:solidFill>
                      <a:srgbClr val="FFFFFF"/>
                    </a:solidFill>
                  </a:tcPr>
                </a:tc>
                <a:tc>
                  <a:txBody>
                    <a:bodyPr/>
                    <a:lstStyle/>
                    <a:p>
                      <a:pPr algn="l" fontAlgn="ctr">
                        <a:buNone/>
                      </a:pPr>
                      <a:r>
                        <a:rPr lang="en-US" sz="1100">
                          <a:solidFill>
                            <a:srgbClr val="161616"/>
                          </a:solidFill>
                          <a:effectLst/>
                          <a:latin typeface="inherit"/>
                        </a:rPr>
                        <a:t>IBM Security Verify, HIPAA‑compatible data storage</a:t>
                      </a:r>
                    </a:p>
                  </a:txBody>
                  <a:tcPr marL="39113" marR="39113" marT="19557" marB="19557" anchor="ctr">
                    <a:lnL>
                      <a:noFill/>
                    </a:lnL>
                    <a:lnR>
                      <a:noFill/>
                    </a:lnR>
                    <a:lnT w="6096" cap="flat" cmpd="sng" algn="ctr">
                      <a:solidFill>
                        <a:srgbClr val="50B026"/>
                      </a:solidFill>
                      <a:prstDash val="solid"/>
                      <a:round/>
                      <a:headEnd type="none" w="med" len="med"/>
                      <a:tailEnd type="none" w="med" len="med"/>
                    </a:lnT>
                    <a:lnB w="6096" cap="flat" cmpd="sng" algn="ctr">
                      <a:solidFill>
                        <a:srgbClr val="70A226"/>
                      </a:solidFill>
                      <a:prstDash val="solid"/>
                      <a:round/>
                      <a:headEnd type="none" w="med" len="med"/>
                      <a:tailEnd type="none" w="med" len="med"/>
                    </a:lnB>
                    <a:solidFill>
                      <a:srgbClr val="FFFFFF"/>
                    </a:solidFill>
                  </a:tcPr>
                </a:tc>
                <a:tc>
                  <a:txBody>
                    <a:bodyPr/>
                    <a:lstStyle/>
                    <a:p>
                      <a:pPr algn="l" fontAlgn="ctr">
                        <a:buNone/>
                      </a:pPr>
                      <a:r>
                        <a:rPr lang="en-US" sz="1100" dirty="0">
                          <a:solidFill>
                            <a:srgbClr val="161616"/>
                          </a:solidFill>
                          <a:effectLst/>
                          <a:latin typeface="inherit"/>
                        </a:rPr>
                        <a:t>Protect personal health information.</a:t>
                      </a:r>
                    </a:p>
                  </a:txBody>
                  <a:tcPr marL="39113" marR="39113" marT="19557" marB="19557" anchor="ctr">
                    <a:lnL>
                      <a:noFill/>
                    </a:lnL>
                    <a:lnR>
                      <a:noFill/>
                    </a:lnR>
                    <a:lnT w="6096" cap="flat" cmpd="sng" algn="ctr">
                      <a:solidFill>
                        <a:srgbClr val="90B526"/>
                      </a:solidFill>
                      <a:prstDash val="solid"/>
                      <a:round/>
                      <a:headEnd type="none" w="med" len="med"/>
                      <a:tailEnd type="none" w="med" len="med"/>
                    </a:lnT>
                    <a:lnB w="6096" cap="flat" cmpd="sng" algn="ctr">
                      <a:solidFill>
                        <a:srgbClr val="30B826"/>
                      </a:solidFill>
                      <a:prstDash val="solid"/>
                      <a:round/>
                      <a:headEnd type="none" w="med" len="med"/>
                      <a:tailEnd type="none" w="med" len="med"/>
                    </a:lnB>
                    <a:solidFill>
                      <a:srgbClr val="FFFFFF"/>
                    </a:solidFill>
                  </a:tcPr>
                </a:tc>
                <a:extLst>
                  <a:ext uri="{0D108BD9-81ED-4DB2-BD59-A6C34878D82A}">
                    <a16:rowId xmlns:a16="http://schemas.microsoft.com/office/drawing/2014/main" val="4058971082"/>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67EDBBF9-C3F3-F4D2-4BD6-EC7A07B67D10}"/>
              </a:ext>
            </a:extLst>
          </p:cNvPr>
          <p:cNvGraphicFramePr>
            <a:graphicFrameLocks noGrp="1"/>
          </p:cNvGraphicFramePr>
          <p:nvPr>
            <p:extLst>
              <p:ext uri="{D42A27DB-BD31-4B8C-83A1-F6EECF244321}">
                <p14:modId xmlns:p14="http://schemas.microsoft.com/office/powerpoint/2010/main" val="808358718"/>
              </p:ext>
            </p:extLst>
          </p:nvPr>
        </p:nvGraphicFramePr>
        <p:xfrm>
          <a:off x="537590" y="1005840"/>
          <a:ext cx="7549770" cy="5522919"/>
        </p:xfrm>
        <a:graphic>
          <a:graphicData uri="http://schemas.openxmlformats.org/drawingml/2006/table">
            <a:tbl>
              <a:tblPr/>
              <a:tblGrid>
                <a:gridCol w="2516590">
                  <a:extLst>
                    <a:ext uri="{9D8B030D-6E8A-4147-A177-3AD203B41FA5}">
                      <a16:colId xmlns:a16="http://schemas.microsoft.com/office/drawing/2014/main" val="1999818985"/>
                    </a:ext>
                  </a:extLst>
                </a:gridCol>
                <a:gridCol w="2516590">
                  <a:extLst>
                    <a:ext uri="{9D8B030D-6E8A-4147-A177-3AD203B41FA5}">
                      <a16:colId xmlns:a16="http://schemas.microsoft.com/office/drawing/2014/main" val="846787623"/>
                    </a:ext>
                  </a:extLst>
                </a:gridCol>
                <a:gridCol w="2516590">
                  <a:extLst>
                    <a:ext uri="{9D8B030D-6E8A-4147-A177-3AD203B41FA5}">
                      <a16:colId xmlns:a16="http://schemas.microsoft.com/office/drawing/2014/main" val="1165521996"/>
                    </a:ext>
                  </a:extLst>
                </a:gridCol>
              </a:tblGrid>
              <a:tr h="286997">
                <a:tc>
                  <a:txBody>
                    <a:bodyPr/>
                    <a:lstStyle/>
                    <a:p>
                      <a:pPr algn="l" fontAlgn="ctr">
                        <a:buNone/>
                      </a:pPr>
                      <a:r>
                        <a:rPr lang="en-US" sz="1600" b="1" dirty="0">
                          <a:solidFill>
                            <a:srgbClr val="161616"/>
                          </a:solidFill>
                          <a:effectLst/>
                          <a:latin typeface="inherit"/>
                        </a:rPr>
                        <a:t>Agent</a:t>
                      </a:r>
                    </a:p>
                  </a:txBody>
                  <a:tcPr marL="51343" marR="51343" marT="25672" marB="25672" anchor="ctr">
                    <a:lnL>
                      <a:noFill/>
                    </a:lnL>
                    <a:lnR>
                      <a:noFill/>
                    </a:lnR>
                    <a:lnT>
                      <a:noFill/>
                    </a:lnT>
                    <a:lnB w="6096" cap="flat" cmpd="sng" algn="ctr">
                      <a:solidFill>
                        <a:srgbClr val="F0FF7D"/>
                      </a:solidFill>
                      <a:prstDash val="solid"/>
                      <a:round/>
                      <a:headEnd type="none" w="med" len="med"/>
                      <a:tailEnd type="none" w="med" len="med"/>
                    </a:lnB>
                    <a:solidFill>
                      <a:srgbClr val="E0E0E0"/>
                    </a:solidFill>
                  </a:tcPr>
                </a:tc>
                <a:tc>
                  <a:txBody>
                    <a:bodyPr/>
                    <a:lstStyle/>
                    <a:p>
                      <a:pPr algn="l" fontAlgn="ctr">
                        <a:buNone/>
                      </a:pPr>
                      <a:r>
                        <a:rPr lang="en-US" sz="1600" b="1" dirty="0">
                          <a:solidFill>
                            <a:srgbClr val="161616"/>
                          </a:solidFill>
                          <a:effectLst/>
                          <a:latin typeface="inherit"/>
                        </a:rPr>
                        <a:t>Core Responsibility</a:t>
                      </a:r>
                    </a:p>
                  </a:txBody>
                  <a:tcPr marL="51343" marR="51343" marT="25672" marB="25672" anchor="ctr">
                    <a:lnL>
                      <a:noFill/>
                    </a:lnL>
                    <a:lnR>
                      <a:noFill/>
                    </a:lnR>
                    <a:lnT>
                      <a:noFill/>
                    </a:lnT>
                    <a:lnB w="6096" cap="flat" cmpd="sng" algn="ctr">
                      <a:solidFill>
                        <a:srgbClr val="50FD7D"/>
                      </a:solidFill>
                      <a:prstDash val="solid"/>
                      <a:round/>
                      <a:headEnd type="none" w="med" len="med"/>
                      <a:tailEnd type="none" w="med" len="med"/>
                    </a:lnB>
                    <a:solidFill>
                      <a:srgbClr val="E0E0E0"/>
                    </a:solidFill>
                  </a:tcPr>
                </a:tc>
                <a:tc>
                  <a:txBody>
                    <a:bodyPr/>
                    <a:lstStyle/>
                    <a:p>
                      <a:pPr algn="l" fontAlgn="ctr">
                        <a:buNone/>
                      </a:pPr>
                      <a:r>
                        <a:rPr lang="en-US" sz="1600" b="1" dirty="0">
                          <a:solidFill>
                            <a:srgbClr val="161616"/>
                          </a:solidFill>
                          <a:effectLst/>
                          <a:latin typeface="inherit"/>
                        </a:rPr>
                        <a:t>How Agentic AI Enables It</a:t>
                      </a:r>
                    </a:p>
                  </a:txBody>
                  <a:tcPr marL="51343" marR="51343" marT="25672" marB="25672" anchor="ctr">
                    <a:lnL>
                      <a:noFill/>
                    </a:lnL>
                    <a:lnR>
                      <a:noFill/>
                    </a:lnR>
                    <a:lnT>
                      <a:noFill/>
                    </a:lnT>
                    <a:lnB w="6096" cap="flat" cmpd="sng" algn="ctr">
                      <a:solidFill>
                        <a:srgbClr val="10E97D"/>
                      </a:solidFill>
                      <a:prstDash val="solid"/>
                      <a:round/>
                      <a:headEnd type="none" w="med" len="med"/>
                      <a:tailEnd type="none" w="med" len="med"/>
                    </a:lnB>
                    <a:solidFill>
                      <a:srgbClr val="E0E0E0"/>
                    </a:solidFill>
                  </a:tcPr>
                </a:tc>
                <a:extLst>
                  <a:ext uri="{0D108BD9-81ED-4DB2-BD59-A6C34878D82A}">
                    <a16:rowId xmlns:a16="http://schemas.microsoft.com/office/drawing/2014/main" val="2394482265"/>
                  </a:ext>
                </a:extLst>
              </a:tr>
              <a:tr h="845049">
                <a:tc>
                  <a:txBody>
                    <a:bodyPr/>
                    <a:lstStyle/>
                    <a:p>
                      <a:pPr algn="l" fontAlgn="ctr">
                        <a:buNone/>
                      </a:pPr>
                      <a:r>
                        <a:rPr lang="en-US" sz="1400" b="1" dirty="0">
                          <a:solidFill>
                            <a:srgbClr val="161616"/>
                          </a:solidFill>
                          <a:effectLst/>
                          <a:latin typeface="inherit"/>
                        </a:rPr>
                        <a:t>Nutrition Knowledge Agent</a:t>
                      </a:r>
                      <a:endParaRPr lang="en-US" sz="1400" dirty="0">
                        <a:solidFill>
                          <a:srgbClr val="161616"/>
                        </a:solidFill>
                        <a:effectLst/>
                        <a:latin typeface="inherit"/>
                      </a:endParaRPr>
                    </a:p>
                  </a:txBody>
                  <a:tcPr marL="51343" marR="51343" marT="25672" marB="25672" anchor="ctr">
                    <a:lnL>
                      <a:noFill/>
                    </a:lnL>
                    <a:lnR>
                      <a:noFill/>
                    </a:lnR>
                    <a:lnT w="6096" cap="flat" cmpd="sng" algn="ctr">
                      <a:solidFill>
                        <a:srgbClr val="F0FF7D"/>
                      </a:solidFill>
                      <a:prstDash val="solid"/>
                      <a:round/>
                      <a:headEnd type="none" w="med" len="med"/>
                      <a:tailEnd type="none" w="med" len="med"/>
                    </a:lnT>
                    <a:lnB w="6096" cap="flat" cmpd="sng" algn="ctr">
                      <a:solidFill>
                        <a:srgbClr val="50EE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Retrieves and summarizes up‑to‑date nutrient values &amp; clinical diet rules.</a:t>
                      </a:r>
                    </a:p>
                  </a:txBody>
                  <a:tcPr marL="51343" marR="51343" marT="25672" marB="25672" anchor="ctr">
                    <a:lnL>
                      <a:noFill/>
                    </a:lnL>
                    <a:lnR>
                      <a:noFill/>
                    </a:lnR>
                    <a:lnT w="6096" cap="flat" cmpd="sng" algn="ctr">
                      <a:solidFill>
                        <a:srgbClr val="50FD7D"/>
                      </a:solidFill>
                      <a:prstDash val="solid"/>
                      <a:round/>
                      <a:headEnd type="none" w="med" len="med"/>
                      <a:tailEnd type="none" w="med" len="med"/>
                    </a:lnT>
                    <a:lnB w="6096" cap="flat" cmpd="sng" algn="ctr">
                      <a:solidFill>
                        <a:srgbClr val="10E97D"/>
                      </a:solidFill>
                      <a:prstDash val="solid"/>
                      <a:round/>
                      <a:headEnd type="none" w="med" len="med"/>
                      <a:tailEnd type="none" w="med" len="med"/>
                    </a:lnB>
                    <a:solidFill>
                      <a:srgbClr val="FFFFFF"/>
                    </a:solidFill>
                  </a:tcPr>
                </a:tc>
                <a:tc>
                  <a:txBody>
                    <a:bodyPr/>
                    <a:lstStyle/>
                    <a:p>
                      <a:pPr algn="l" fontAlgn="ctr">
                        <a:buNone/>
                      </a:pPr>
                      <a:r>
                        <a:rPr lang="en-US" sz="1400">
                          <a:solidFill>
                            <a:srgbClr val="161616"/>
                          </a:solidFill>
                          <a:effectLst/>
                          <a:latin typeface="inherit"/>
                        </a:rPr>
                        <a:t>Uses RAG to query the vector store, then the LLM to synthesize concise answers.</a:t>
                      </a:r>
                    </a:p>
                  </a:txBody>
                  <a:tcPr marL="51343" marR="51343" marT="25672" marB="25672" anchor="ctr">
                    <a:lnL>
                      <a:noFill/>
                    </a:lnL>
                    <a:lnR>
                      <a:noFill/>
                    </a:lnR>
                    <a:lnT w="6096" cap="flat" cmpd="sng" algn="ctr">
                      <a:solidFill>
                        <a:srgbClr val="10E97D"/>
                      </a:solidFill>
                      <a:prstDash val="solid"/>
                      <a:round/>
                      <a:headEnd type="none" w="med" len="med"/>
                      <a:tailEnd type="none" w="med" len="med"/>
                    </a:lnT>
                    <a:lnB w="6096" cap="flat" cmpd="sng" algn="ctr">
                      <a:solidFill>
                        <a:srgbClr val="30F97D"/>
                      </a:solidFill>
                      <a:prstDash val="solid"/>
                      <a:round/>
                      <a:headEnd type="none" w="med" len="med"/>
                      <a:tailEnd type="none" w="med" len="med"/>
                    </a:lnB>
                    <a:solidFill>
                      <a:srgbClr val="FFFFFF"/>
                    </a:solidFill>
                  </a:tcPr>
                </a:tc>
                <a:extLst>
                  <a:ext uri="{0D108BD9-81ED-4DB2-BD59-A6C34878D82A}">
                    <a16:rowId xmlns:a16="http://schemas.microsoft.com/office/drawing/2014/main" val="3901688601"/>
                  </a:ext>
                </a:extLst>
              </a:tr>
              <a:tr h="845049">
                <a:tc>
                  <a:txBody>
                    <a:bodyPr/>
                    <a:lstStyle/>
                    <a:p>
                      <a:pPr algn="l" fontAlgn="ctr">
                        <a:buNone/>
                      </a:pPr>
                      <a:r>
                        <a:rPr lang="en-US" sz="1400" b="1">
                          <a:solidFill>
                            <a:srgbClr val="161616"/>
                          </a:solidFill>
                          <a:effectLst/>
                          <a:latin typeface="inherit"/>
                        </a:rPr>
                        <a:t>Diet Recommendation Agent</a:t>
                      </a:r>
                      <a:endParaRPr lang="en-US" sz="1400">
                        <a:solidFill>
                          <a:srgbClr val="161616"/>
                        </a:solidFill>
                        <a:effectLst/>
                        <a:latin typeface="inherit"/>
                      </a:endParaRPr>
                    </a:p>
                  </a:txBody>
                  <a:tcPr marL="51343" marR="51343" marT="25672" marB="25672" anchor="ctr">
                    <a:lnL>
                      <a:noFill/>
                    </a:lnL>
                    <a:lnR>
                      <a:noFill/>
                    </a:lnR>
                    <a:lnT w="6096" cap="flat" cmpd="sng" algn="ctr">
                      <a:solidFill>
                        <a:srgbClr val="50EE7D"/>
                      </a:solidFill>
                      <a:prstDash val="solid"/>
                      <a:round/>
                      <a:headEnd type="none" w="med" len="med"/>
                      <a:tailEnd type="none" w="med" len="med"/>
                    </a:lnT>
                    <a:lnB w="6096" cap="flat" cmpd="sng" algn="ctr">
                      <a:solidFill>
                        <a:srgbClr val="30F9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Crafts personalized meal plans and grocery lists.</a:t>
                      </a:r>
                    </a:p>
                  </a:txBody>
                  <a:tcPr marL="51343" marR="51343" marT="25672" marB="25672" anchor="ctr">
                    <a:lnL>
                      <a:noFill/>
                    </a:lnL>
                    <a:lnR>
                      <a:noFill/>
                    </a:lnR>
                    <a:lnT w="6096" cap="flat" cmpd="sng" algn="ctr">
                      <a:solidFill>
                        <a:srgbClr val="10E97D"/>
                      </a:solidFill>
                      <a:prstDash val="solid"/>
                      <a:round/>
                      <a:headEnd type="none" w="med" len="med"/>
                      <a:tailEnd type="none" w="med" len="med"/>
                    </a:lnT>
                    <a:lnB w="6096" cap="flat" cmpd="sng" algn="ctr">
                      <a:solidFill>
                        <a:srgbClr val="10FE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Takes the user profile, applies constraint‑solving logic, and generates natural‑language recipes.</a:t>
                      </a:r>
                    </a:p>
                  </a:txBody>
                  <a:tcPr marL="51343" marR="51343" marT="25672" marB="25672" anchor="ctr">
                    <a:lnL>
                      <a:noFill/>
                    </a:lnL>
                    <a:lnR>
                      <a:noFill/>
                    </a:lnR>
                    <a:lnT w="6096" cap="flat" cmpd="sng" algn="ctr">
                      <a:solidFill>
                        <a:srgbClr val="30F97D"/>
                      </a:solidFill>
                      <a:prstDash val="solid"/>
                      <a:round/>
                      <a:headEnd type="none" w="med" len="med"/>
                      <a:tailEnd type="none" w="med" len="med"/>
                    </a:lnT>
                    <a:lnB w="6096" cap="flat" cmpd="sng" algn="ctr">
                      <a:solidFill>
                        <a:srgbClr val="30F97D"/>
                      </a:solidFill>
                      <a:prstDash val="solid"/>
                      <a:round/>
                      <a:headEnd type="none" w="med" len="med"/>
                      <a:tailEnd type="none" w="med" len="med"/>
                    </a:lnB>
                    <a:solidFill>
                      <a:srgbClr val="FFFFFF"/>
                    </a:solidFill>
                  </a:tcPr>
                </a:tc>
                <a:extLst>
                  <a:ext uri="{0D108BD9-81ED-4DB2-BD59-A6C34878D82A}">
                    <a16:rowId xmlns:a16="http://schemas.microsoft.com/office/drawing/2014/main" val="1200674788"/>
                  </a:ext>
                </a:extLst>
              </a:tr>
              <a:tr h="1179879">
                <a:tc>
                  <a:txBody>
                    <a:bodyPr/>
                    <a:lstStyle/>
                    <a:p>
                      <a:pPr algn="l" fontAlgn="ctr">
                        <a:buNone/>
                      </a:pPr>
                      <a:r>
                        <a:rPr lang="en-US" sz="1400" b="1">
                          <a:solidFill>
                            <a:srgbClr val="161616"/>
                          </a:solidFill>
                          <a:effectLst/>
                          <a:latin typeface="inherit"/>
                        </a:rPr>
                        <a:t>Health Advisory Agent</a:t>
                      </a:r>
                      <a:endParaRPr lang="en-US" sz="1400">
                        <a:solidFill>
                          <a:srgbClr val="161616"/>
                        </a:solidFill>
                        <a:effectLst/>
                        <a:latin typeface="inherit"/>
                      </a:endParaRPr>
                    </a:p>
                  </a:txBody>
                  <a:tcPr marL="51343" marR="51343" marT="25672" marB="25672" anchor="ctr">
                    <a:lnL>
                      <a:noFill/>
                    </a:lnL>
                    <a:lnR>
                      <a:noFill/>
                    </a:lnR>
                    <a:lnT w="6096" cap="flat" cmpd="sng" algn="ctr">
                      <a:solidFill>
                        <a:srgbClr val="30F97D"/>
                      </a:solidFill>
                      <a:prstDash val="solid"/>
                      <a:round/>
                      <a:headEnd type="none" w="med" len="med"/>
                      <a:tailEnd type="none" w="med" len="med"/>
                    </a:lnT>
                    <a:lnB w="6096" cap="flat" cmpd="sng" algn="ctr">
                      <a:solidFill>
                        <a:srgbClr val="90EA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Provides disease‑specific preventive diet guidance.</a:t>
                      </a:r>
                    </a:p>
                  </a:txBody>
                  <a:tcPr marL="51343" marR="51343" marT="25672" marB="25672" anchor="ctr">
                    <a:lnL>
                      <a:noFill/>
                    </a:lnL>
                    <a:lnR>
                      <a:noFill/>
                    </a:lnR>
                    <a:lnT w="6096" cap="flat" cmpd="sng" algn="ctr">
                      <a:solidFill>
                        <a:srgbClr val="10FE7D"/>
                      </a:solidFill>
                      <a:prstDash val="solid"/>
                      <a:round/>
                      <a:headEnd type="none" w="med" len="med"/>
                      <a:tailEnd type="none" w="med" len="med"/>
                    </a:lnT>
                    <a:lnB w="6096" cap="flat" cmpd="sng" algn="ctr">
                      <a:solidFill>
                        <a:srgbClr val="F0EA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Interprets medical conditions, maps them to guideline‑based recommendations, and produces actionable tips.</a:t>
                      </a:r>
                    </a:p>
                  </a:txBody>
                  <a:tcPr marL="51343" marR="51343" marT="25672" marB="25672" anchor="ctr">
                    <a:lnL>
                      <a:noFill/>
                    </a:lnL>
                    <a:lnR>
                      <a:noFill/>
                    </a:lnR>
                    <a:lnT w="6096" cap="flat" cmpd="sng" algn="ctr">
                      <a:solidFill>
                        <a:srgbClr val="30F97D"/>
                      </a:solidFill>
                      <a:prstDash val="solid"/>
                      <a:round/>
                      <a:headEnd type="none" w="med" len="med"/>
                      <a:tailEnd type="none" w="med" len="med"/>
                    </a:lnT>
                    <a:lnB w="6096" cap="flat" cmpd="sng" algn="ctr">
                      <a:solidFill>
                        <a:srgbClr val="F0F97D"/>
                      </a:solidFill>
                      <a:prstDash val="solid"/>
                      <a:round/>
                      <a:headEnd type="none" w="med" len="med"/>
                      <a:tailEnd type="none" w="med" len="med"/>
                    </a:lnB>
                    <a:solidFill>
                      <a:srgbClr val="FFFFFF"/>
                    </a:solidFill>
                  </a:tcPr>
                </a:tc>
                <a:extLst>
                  <a:ext uri="{0D108BD9-81ED-4DB2-BD59-A6C34878D82A}">
                    <a16:rowId xmlns:a16="http://schemas.microsoft.com/office/drawing/2014/main" val="2272779637"/>
                  </a:ext>
                </a:extLst>
              </a:tr>
              <a:tr h="1068268">
                <a:tc>
                  <a:txBody>
                    <a:bodyPr/>
                    <a:lstStyle/>
                    <a:p>
                      <a:pPr algn="l" fontAlgn="ctr">
                        <a:buNone/>
                      </a:pPr>
                      <a:r>
                        <a:rPr lang="en-US" sz="1400" b="1">
                          <a:solidFill>
                            <a:srgbClr val="161616"/>
                          </a:solidFill>
                          <a:effectLst/>
                          <a:latin typeface="inherit"/>
                        </a:rPr>
                        <a:t>Food Log &amp; Feedback Agent</a:t>
                      </a:r>
                      <a:endParaRPr lang="en-US" sz="1400">
                        <a:solidFill>
                          <a:srgbClr val="161616"/>
                        </a:solidFill>
                        <a:effectLst/>
                        <a:latin typeface="inherit"/>
                      </a:endParaRPr>
                    </a:p>
                  </a:txBody>
                  <a:tcPr marL="51343" marR="51343" marT="25672" marB="25672" anchor="ctr">
                    <a:lnL>
                      <a:noFill/>
                    </a:lnL>
                    <a:lnR>
                      <a:noFill/>
                    </a:lnR>
                    <a:lnT w="6096" cap="flat" cmpd="sng" algn="ctr">
                      <a:solidFill>
                        <a:srgbClr val="90EA7D"/>
                      </a:solidFill>
                      <a:prstDash val="solid"/>
                      <a:round/>
                      <a:headEnd type="none" w="med" len="med"/>
                      <a:tailEnd type="none" w="med" len="med"/>
                    </a:lnT>
                    <a:lnB w="6096" cap="flat" cmpd="sng" algn="ctr">
                      <a:solidFill>
                        <a:srgbClr val="B0F17D"/>
                      </a:solidFill>
                      <a:prstDash val="solid"/>
                      <a:round/>
                      <a:headEnd type="none" w="med" len="med"/>
                      <a:tailEnd type="none" w="med" len="med"/>
                    </a:lnB>
                    <a:solidFill>
                      <a:srgbClr val="FFFFFF"/>
                    </a:solidFill>
                  </a:tcPr>
                </a:tc>
                <a:tc>
                  <a:txBody>
                    <a:bodyPr/>
                    <a:lstStyle/>
                    <a:p>
                      <a:pPr algn="l" fontAlgn="ctr">
                        <a:buNone/>
                      </a:pPr>
                      <a:r>
                        <a:rPr lang="en-US" sz="1400">
                          <a:solidFill>
                            <a:srgbClr val="161616"/>
                          </a:solidFill>
                          <a:effectLst/>
                          <a:latin typeface="inherit"/>
                        </a:rPr>
                        <a:t>Analyzes logged meals, computes nutrient totals, and gives real‑time feedback.</a:t>
                      </a:r>
                    </a:p>
                  </a:txBody>
                  <a:tcPr marL="51343" marR="51343" marT="25672" marB="25672" anchor="ctr">
                    <a:lnL>
                      <a:noFill/>
                    </a:lnL>
                    <a:lnR>
                      <a:noFill/>
                    </a:lnR>
                    <a:lnT w="6096" cap="flat" cmpd="sng" algn="ctr">
                      <a:solidFill>
                        <a:srgbClr val="F0EA7D"/>
                      </a:solidFill>
                      <a:prstDash val="solid"/>
                      <a:round/>
                      <a:headEnd type="none" w="med" len="med"/>
                      <a:tailEnd type="none" w="med" len="med"/>
                    </a:lnT>
                    <a:lnB w="6096" cap="flat" cmpd="sng" algn="ctr">
                      <a:solidFill>
                        <a:srgbClr val="30F67D"/>
                      </a:solidFill>
                      <a:prstDash val="solid"/>
                      <a:round/>
                      <a:headEnd type="none" w="med" len="med"/>
                      <a:tailEnd type="none" w="med" len="med"/>
                    </a:lnB>
                    <a:solidFill>
                      <a:srgbClr val="FFFFFF"/>
                    </a:solidFill>
                  </a:tcPr>
                </a:tc>
                <a:tc>
                  <a:txBody>
                    <a:bodyPr/>
                    <a:lstStyle/>
                    <a:p>
                      <a:pPr algn="l" fontAlgn="ctr">
                        <a:buNone/>
                      </a:pPr>
                      <a:r>
                        <a:rPr lang="en-US" sz="1400" dirty="0">
                          <a:solidFill>
                            <a:srgbClr val="161616"/>
                          </a:solidFill>
                          <a:effectLst/>
                          <a:latin typeface="inherit"/>
                        </a:rPr>
                        <a:t>Combines OCR/image recognition output with the nutrition database; the LLM explains deviations and suggestions.</a:t>
                      </a:r>
                    </a:p>
                  </a:txBody>
                  <a:tcPr marL="51343" marR="51343" marT="25672" marB="25672" anchor="ctr">
                    <a:lnL>
                      <a:noFill/>
                    </a:lnL>
                    <a:lnR>
                      <a:noFill/>
                    </a:lnR>
                    <a:lnT w="6096" cap="flat" cmpd="sng" algn="ctr">
                      <a:solidFill>
                        <a:srgbClr val="F0F97D"/>
                      </a:solidFill>
                      <a:prstDash val="solid"/>
                      <a:round/>
                      <a:headEnd type="none" w="med" len="med"/>
                      <a:tailEnd type="none" w="med" len="med"/>
                    </a:lnT>
                    <a:lnB w="6096" cap="flat" cmpd="sng" algn="ctr">
                      <a:solidFill>
                        <a:srgbClr val="50F47D"/>
                      </a:solidFill>
                      <a:prstDash val="solid"/>
                      <a:round/>
                      <a:headEnd type="none" w="med" len="med"/>
                      <a:tailEnd type="none" w="med" len="med"/>
                    </a:lnB>
                    <a:solidFill>
                      <a:srgbClr val="FFFFFF"/>
                    </a:solidFill>
                  </a:tcPr>
                </a:tc>
                <a:extLst>
                  <a:ext uri="{0D108BD9-81ED-4DB2-BD59-A6C34878D82A}">
                    <a16:rowId xmlns:a16="http://schemas.microsoft.com/office/drawing/2014/main" val="1430443703"/>
                  </a:ext>
                </a:extLst>
              </a:tr>
              <a:tr h="1179879">
                <a:tc>
                  <a:txBody>
                    <a:bodyPr/>
                    <a:lstStyle/>
                    <a:p>
                      <a:pPr algn="l" fontAlgn="ctr">
                        <a:buNone/>
                      </a:pPr>
                      <a:r>
                        <a:rPr lang="en-US" sz="1400" b="1">
                          <a:solidFill>
                            <a:srgbClr val="161616"/>
                          </a:solidFill>
                          <a:effectLst/>
                          <a:latin typeface="inherit"/>
                        </a:rPr>
                        <a:t>Orchestrator (Meta‑Agent)</a:t>
                      </a:r>
                      <a:endParaRPr lang="en-US" sz="1400">
                        <a:solidFill>
                          <a:srgbClr val="161616"/>
                        </a:solidFill>
                        <a:effectLst/>
                        <a:latin typeface="inherit"/>
                      </a:endParaRPr>
                    </a:p>
                  </a:txBody>
                  <a:tcPr marL="51343" marR="51343" marT="25672" marB="25672" anchor="ctr">
                    <a:lnL>
                      <a:noFill/>
                    </a:lnL>
                    <a:lnR>
                      <a:noFill/>
                    </a:lnR>
                    <a:lnT w="6096" cap="flat" cmpd="sng" algn="ctr">
                      <a:solidFill>
                        <a:srgbClr val="B0F17D"/>
                      </a:solidFill>
                      <a:prstDash val="solid"/>
                      <a:round/>
                      <a:headEnd type="none" w="med" len="med"/>
                      <a:tailEnd type="none" w="med" len="med"/>
                    </a:lnT>
                    <a:lnB w="6096" cap="flat" cmpd="sng" algn="ctr">
                      <a:solidFill>
                        <a:srgbClr val="10FE7D"/>
                      </a:solidFill>
                      <a:prstDash val="solid"/>
                      <a:round/>
                      <a:headEnd type="none" w="med" len="med"/>
                      <a:tailEnd type="none" w="med" len="med"/>
                    </a:lnB>
                    <a:solidFill>
                      <a:srgbClr val="E8E8E8"/>
                    </a:solidFill>
                  </a:tcPr>
                </a:tc>
                <a:tc>
                  <a:txBody>
                    <a:bodyPr/>
                    <a:lstStyle/>
                    <a:p>
                      <a:pPr algn="l" fontAlgn="ctr">
                        <a:buNone/>
                      </a:pPr>
                      <a:r>
                        <a:rPr lang="en-US" sz="1400">
                          <a:solidFill>
                            <a:srgbClr val="161616"/>
                          </a:solidFill>
                          <a:effectLst/>
                          <a:latin typeface="inherit"/>
                        </a:rPr>
                        <a:t>Routes user inputs to the appropriate sub‑agent, maintains session context, and merges multi‑modal outputs.</a:t>
                      </a:r>
                    </a:p>
                  </a:txBody>
                  <a:tcPr marL="51343" marR="51343" marT="25672" marB="25672" anchor="ctr">
                    <a:lnL>
                      <a:noFill/>
                    </a:lnL>
                    <a:lnR>
                      <a:noFill/>
                    </a:lnR>
                    <a:lnT w="6096" cap="flat" cmpd="sng" algn="ctr">
                      <a:solidFill>
                        <a:srgbClr val="30F67D"/>
                      </a:solidFill>
                      <a:prstDash val="solid"/>
                      <a:round/>
                      <a:headEnd type="none" w="med" len="med"/>
                      <a:tailEnd type="none" w="med" len="med"/>
                    </a:lnT>
                    <a:lnB w="6096" cap="flat" cmpd="sng" algn="ctr">
                      <a:solidFill>
                        <a:srgbClr val="F0FF7D"/>
                      </a:solidFill>
                      <a:prstDash val="solid"/>
                      <a:round/>
                      <a:headEnd type="none" w="med" len="med"/>
                      <a:tailEnd type="none" w="med" len="med"/>
                    </a:lnB>
                    <a:solidFill>
                      <a:srgbClr val="E8E8E8"/>
                    </a:solidFill>
                  </a:tcPr>
                </a:tc>
                <a:tc>
                  <a:txBody>
                    <a:bodyPr/>
                    <a:lstStyle/>
                    <a:p>
                      <a:pPr algn="l" fontAlgn="ctr">
                        <a:buNone/>
                      </a:pPr>
                      <a:r>
                        <a:rPr lang="en-US" sz="1400" dirty="0">
                          <a:solidFill>
                            <a:srgbClr val="161616"/>
                          </a:solidFill>
                          <a:effectLst/>
                          <a:latin typeface="inherit"/>
                        </a:rPr>
                        <a:t>Ensures seamless hand‑off, tracks state (e.g., current day’s nutrient budget), and resolves conflicts.</a:t>
                      </a:r>
                    </a:p>
                  </a:txBody>
                  <a:tcPr marL="51343" marR="51343" marT="25672" marB="25672" anchor="ctr">
                    <a:lnL>
                      <a:noFill/>
                    </a:lnL>
                    <a:lnR>
                      <a:noFill/>
                    </a:lnR>
                    <a:lnT w="6096" cap="flat" cmpd="sng" algn="ctr">
                      <a:solidFill>
                        <a:srgbClr val="50F47D"/>
                      </a:solidFill>
                      <a:prstDash val="solid"/>
                      <a:round/>
                      <a:headEnd type="none" w="med" len="med"/>
                      <a:tailEnd type="none" w="med" len="med"/>
                    </a:lnT>
                    <a:lnB w="6096" cap="flat" cmpd="sng" algn="ctr">
                      <a:solidFill>
                        <a:srgbClr val="90FC7D"/>
                      </a:solidFill>
                      <a:prstDash val="solid"/>
                      <a:round/>
                      <a:headEnd type="none" w="med" len="med"/>
                      <a:tailEnd type="none" w="med" len="med"/>
                    </a:lnB>
                    <a:solidFill>
                      <a:srgbClr val="E8E8E8"/>
                    </a:solidFill>
                  </a:tcPr>
                </a:tc>
                <a:extLst>
                  <a:ext uri="{0D108BD9-81ED-4DB2-BD59-A6C34878D82A}">
                    <a16:rowId xmlns:a16="http://schemas.microsoft.com/office/drawing/2014/main" val="3761358976"/>
                  </a:ext>
                </a:extLst>
              </a:tr>
            </a:tbl>
          </a:graphicData>
        </a:graphic>
      </p:graphicFrame>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5" name="TextBox 4">
            <a:extLst>
              <a:ext uri="{FF2B5EF4-FFF2-40B4-BE49-F238E27FC236}">
                <a16:creationId xmlns:a16="http://schemas.microsoft.com/office/drawing/2014/main" id="{6647A4A8-8F5D-0D4C-4E00-C85923217F5A}"/>
              </a:ext>
            </a:extLst>
          </p:cNvPr>
          <p:cNvSpPr txBox="1"/>
          <p:nvPr/>
        </p:nvSpPr>
        <p:spPr>
          <a:xfrm>
            <a:off x="554146" y="1167493"/>
            <a:ext cx="6859377" cy="2800767"/>
          </a:xfrm>
          <a:prstGeom prst="rect">
            <a:avLst/>
          </a:prstGeom>
          <a:noFill/>
        </p:spPr>
        <p:txBody>
          <a:bodyPr wrap="square">
            <a:spAutoFit/>
          </a:bodyPr>
          <a:lstStyle/>
          <a:p>
            <a:r>
              <a:rPr lang="en-US" sz="1600" b="0" i="0" dirty="0" err="1">
                <a:solidFill>
                  <a:srgbClr val="161616"/>
                </a:solidFill>
                <a:effectLst/>
                <a:latin typeface="IBM Plex Sans" panose="020B0503050203000203" pitchFamily="34" charset="0"/>
              </a:rPr>
              <a:t>NutriAI</a:t>
            </a:r>
            <a:r>
              <a:rPr lang="en-US" sz="1600" b="0" i="0" dirty="0">
                <a:solidFill>
                  <a:srgbClr val="161616"/>
                </a:solidFill>
                <a:effectLst/>
                <a:latin typeface="IBM Plex Sans" panose="020B0503050203000203" pitchFamily="34" charset="0"/>
              </a:rPr>
              <a:t> uses an </a:t>
            </a:r>
            <a:r>
              <a:rPr lang="en-US" sz="1600" b="1" i="0" dirty="0">
                <a:solidFill>
                  <a:srgbClr val="161616"/>
                </a:solidFill>
                <a:effectLst/>
                <a:latin typeface="IBM Plex Sans" panose="020B0503050203000203" pitchFamily="34" charset="0"/>
              </a:rPr>
              <a:t>agentic AI architecture</a:t>
            </a:r>
            <a:r>
              <a:rPr lang="en-US" sz="1600" b="0" i="0" dirty="0">
                <a:solidFill>
                  <a:srgbClr val="161616"/>
                </a:solidFill>
                <a:effectLst/>
                <a:latin typeface="IBM Plex Sans" panose="020B0503050203000203" pitchFamily="34" charset="0"/>
              </a:rPr>
              <a:t> where four specialized agents work together under a meta‑orchestrator: the Nutrition Knowledge Agent retrieves verified nutrient data and clinical guidelines via RAG; the Diet Recommendation Agent creates personalized meal plans based on the user’s profile and the retrieved facts; the Health Advisory Agent adds disease‑specific diet advice (e.g., ADA, DASH) and checks for conflicts; and the Food‑Log &amp; Feedback Agent processes text, photo, or voice entries, matches foods to the knowledge base, calculates real‑time nutrient totals, and gives actionable feedback. IBM Orchestrate maintains context, routes intents, and reconciles outputs, giving </a:t>
            </a:r>
            <a:r>
              <a:rPr lang="en-US" sz="1600" b="0" i="0" dirty="0" err="1">
                <a:solidFill>
                  <a:srgbClr val="161616"/>
                </a:solidFill>
                <a:effectLst/>
                <a:latin typeface="IBM Plex Sans" panose="020B0503050203000203" pitchFamily="34" charset="0"/>
              </a:rPr>
              <a:t>NutriAI</a:t>
            </a:r>
            <a:r>
              <a:rPr lang="en-US" sz="1600" b="0" i="0" dirty="0">
                <a:solidFill>
                  <a:srgbClr val="161616"/>
                </a:solidFill>
                <a:effectLst/>
                <a:latin typeface="IBM Plex Sans" panose="020B0503050203000203" pitchFamily="34" charset="0"/>
              </a:rPr>
              <a:t> high accuracy, scalability, and instant, personalized nutrition guidance.</a:t>
            </a:r>
            <a:endParaRPr lang="en-US" sz="1600" dirty="0"/>
          </a:p>
        </p:txBody>
      </p:sp>
      <p:pic>
        <p:nvPicPr>
          <p:cNvPr id="6" name="Picture 5" descr="A robot with headphones on and a neon sign that says ...">
            <a:extLst>
              <a:ext uri="{FF2B5EF4-FFF2-40B4-BE49-F238E27FC236}">
                <a16:creationId xmlns:a16="http://schemas.microsoft.com/office/drawing/2014/main" id="{15B02009-C583-6AF8-149F-C94B08E8CA27}"/>
              </a:ext>
            </a:extLst>
          </p:cNvPr>
          <p:cNvPicPr>
            <a:picLocks noChangeAspect="1"/>
          </p:cNvPicPr>
          <p:nvPr/>
        </p:nvPicPr>
        <p:blipFill>
          <a:blip r:embed="rId3"/>
          <a:stretch>
            <a:fillRect/>
          </a:stretch>
        </p:blipFill>
        <p:spPr>
          <a:xfrm>
            <a:off x="8772912" y="855406"/>
            <a:ext cx="2943600" cy="51471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5" name="TextBox 4">
            <a:extLst>
              <a:ext uri="{FF2B5EF4-FFF2-40B4-BE49-F238E27FC236}">
                <a16:creationId xmlns:a16="http://schemas.microsoft.com/office/drawing/2014/main" id="{2B26A365-4905-4A98-89F2-A5A1C10A9908}"/>
              </a:ext>
            </a:extLst>
          </p:cNvPr>
          <p:cNvSpPr txBox="1"/>
          <p:nvPr/>
        </p:nvSpPr>
        <p:spPr>
          <a:xfrm>
            <a:off x="777240" y="1113446"/>
            <a:ext cx="8858373" cy="3724096"/>
          </a:xfrm>
          <a:prstGeom prst="rect">
            <a:avLst/>
          </a:prstGeom>
          <a:noFill/>
        </p:spPr>
        <p:txBody>
          <a:bodyPr wrap="square">
            <a:spAutoFit/>
          </a:bodyPr>
          <a:lstStyle/>
          <a:p>
            <a:pPr algn="l" fontAlgn="auto">
              <a:spcAft>
                <a:spcPts val="600"/>
              </a:spcAft>
              <a:buFont typeface="+mj-lt"/>
              <a:buAutoNum type="arabicPeriod"/>
            </a:pPr>
            <a:r>
              <a:rPr lang="en-US" b="1" i="0" dirty="0">
                <a:solidFill>
                  <a:srgbClr val="161616"/>
                </a:solidFill>
                <a:effectLst/>
                <a:latin typeface="inherit"/>
              </a:rPr>
              <a:t>Full‑stack multimodal logging</a:t>
            </a:r>
            <a:r>
              <a:rPr lang="en-US" b="0" i="0" dirty="0">
                <a:solidFill>
                  <a:srgbClr val="161616"/>
                </a:solidFill>
                <a:effectLst/>
                <a:latin typeface="inherit"/>
              </a:rPr>
              <a:t> (text + photo + voice) with automatic portion estimation – rare in consumer nutrition apps.</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Hybrid RAG + Clinical Guideline engine</a:t>
            </a:r>
            <a:r>
              <a:rPr lang="en-US" b="0" i="0" dirty="0">
                <a:solidFill>
                  <a:srgbClr val="161616"/>
                </a:solidFill>
                <a:effectLst/>
                <a:latin typeface="inherit"/>
              </a:rPr>
              <a:t> – guarantees that every fact comes from a vetted source, reducing misinformation.</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Agentic orchestration</a:t>
            </a:r>
            <a:r>
              <a:rPr lang="en-US" b="0" i="0" dirty="0">
                <a:solidFill>
                  <a:srgbClr val="161616"/>
                </a:solidFill>
                <a:effectLst/>
                <a:latin typeface="inherit"/>
              </a:rPr>
              <a:t> – distinct specialized agents that communicate via IBM Orchestrate, enabling scalability and easy addition of new health modules (e.g., sports‑performance, prenatal nutrition).</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Cultural &amp; Preference Sensitivity</a:t>
            </a:r>
            <a:r>
              <a:rPr lang="en-US" b="0" i="0" dirty="0">
                <a:solidFill>
                  <a:srgbClr val="161616"/>
                </a:solidFill>
                <a:effectLst/>
                <a:latin typeface="inherit"/>
              </a:rPr>
              <a:t> – the Diet Recommendation Agent incorporates cuisine taxonomy and user‑provided “favorite foods,” producing culturally relevant meal plans.</a:t>
            </a:r>
          </a:p>
          <a:p>
            <a:pPr algn="l" fontAlgn="auto">
              <a:spcAft>
                <a:spcPts val="600"/>
              </a:spcAft>
              <a:buFont typeface="+mj-lt"/>
              <a:buAutoNum type="arabicPeriod"/>
            </a:pPr>
            <a:endParaRPr lang="en-US" b="0" i="0" dirty="0">
              <a:solidFill>
                <a:srgbClr val="161616"/>
              </a:solidFill>
              <a:effectLst/>
              <a:latin typeface="inherit"/>
            </a:endParaRPr>
          </a:p>
          <a:p>
            <a:pPr algn="l" fontAlgn="auto">
              <a:spcAft>
                <a:spcPts val="600"/>
              </a:spcAft>
              <a:buFont typeface="+mj-lt"/>
              <a:buAutoNum type="arabicPeriod"/>
            </a:pPr>
            <a:r>
              <a:rPr lang="en-US" b="1" i="0" dirty="0">
                <a:solidFill>
                  <a:srgbClr val="161616"/>
                </a:solidFill>
                <a:effectLst/>
                <a:latin typeface="inherit"/>
              </a:rPr>
              <a:t>Real‑time preventive health feedback</a:t>
            </a:r>
            <a:r>
              <a:rPr lang="en-US" b="0" i="0" dirty="0">
                <a:solidFill>
                  <a:srgbClr val="161616"/>
                </a:solidFill>
                <a:effectLst/>
                <a:latin typeface="inherit"/>
              </a:rPr>
              <a:t> – not just calorie counting; the system proactively flags diet‑related risk factors for chronic disease management.</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URL</a:t>
            </a:r>
            <a:r>
              <a:rPr lang="en-US" sz="1850" dirty="0">
                <a:solidFill>
                  <a:srgbClr val="2B3541"/>
                </a:solidFill>
                <a:latin typeface="Times New Roman"/>
                <a:ea typeface="Times New Roman"/>
                <a:cs typeface="Times New Roman"/>
                <a:sym typeface="Times New Roman"/>
              </a:rPr>
              <a:t> –https://github.com/jangidvasudev03-coder</a:t>
            </a:r>
          </a:p>
          <a:p>
            <a:pPr lvl="0">
              <a:lnSpc>
                <a:spcPct val="162162"/>
              </a:lnSpc>
              <a:buClr>
                <a:srgbClr val="2B3541"/>
              </a:buClr>
              <a:buSzPts val="1850"/>
            </a:pP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 The Files Uploaded on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2) yourproblemstatement.pdf file</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3) your projectpresntation.pptx file</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6E4FEF9A-7326-5DD2-2BD5-2DFBB1984607}"/>
              </a:ext>
            </a:extLst>
          </p:cNvPr>
          <p:cNvPicPr>
            <a:picLocks noChangeAspect="1"/>
          </p:cNvPicPr>
          <p:nvPr/>
        </p:nvPicPr>
        <p:blipFill>
          <a:blip r:embed="rId2"/>
          <a:stretch>
            <a:fillRect/>
          </a:stretch>
        </p:blipFill>
        <p:spPr>
          <a:xfrm>
            <a:off x="2514866" y="1321784"/>
            <a:ext cx="6894605" cy="532883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1382</Words>
  <Application>Microsoft Office PowerPoint</Application>
  <PresentationFormat>Widescreen</PresentationFormat>
  <Paragraphs>124</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IBM Plex Sans</vt:lpstr>
      <vt:lpstr>inherit</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Manmohan Jangid</cp:lastModifiedBy>
  <cp:revision>16</cp:revision>
  <dcterms:created xsi:type="dcterms:W3CDTF">2025-07-08T05:06:56Z</dcterms:created>
  <dcterms:modified xsi:type="dcterms:W3CDTF">2026-06-26T17:59:33Z</dcterms:modified>
</cp:coreProperties>
</file>